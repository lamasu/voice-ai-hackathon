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one turn. Left to right along the top: the browser opens mic and camera over WebRTC; Silero VAD says only whether someone is speaking; ECAPA says which of up to three known voices it is; Gradium streams the words, about 0.9s behind the speaker; MediaPipe tracks up to four faces in the browser and sends numbers, never pixels.
Everything feeds one shared InteractionState, and Jev reads that state. Its three jobs travel in a single fan-out request, answered in parallel in 150 to 270 milliseconds.
The thing worth saying out loud: Jev deciding 'respond now' is what calls the LLM. There is no separate trigger. And because it decides on the partial transcript, the answer starts before the final transcript arrives.
Bottom row is the response path. A cached filler lands at 0.3 seconds so the wait is never silence; the LLM answers with memory in its prompt; Gradium speaks it back. Background agents run off to the side and report when they are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is the honest version of the architecture: every module, and what degrades rather than breaks when it isn't there. That's the answer to 'what if your camera fails on stage' — gaze gating switches off, and the agent listens to everyone again.
Two design rules worth defending. First, gaze decides who is being spoken to: if people are in frame and nobody is looking at the agent, it treats the speech as room talk, drops the turn, and shows it greyed with the reason — a gated agent must never look like a broken one.
Second, three things never wait for Jev: the words 'stop' and 'wait', sustained overlapping speech at 0.8 seconds, and a Jev timeout. The cloud ASR runs about 0.9 seconds behind, so waiting for text before reacting to a barge-in would feel sluggish.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41B"/>
        </a:solidFill>
      </p:bgPr>
    </p:bg>
    <p:spTree>
      <p:nvGrpSpPr>
        <p:cNvPr id="1" name=""/>
        <p:cNvGrpSpPr/>
        <p:nvPr/>
      </p:nvGrpSpPr>
      <p:grpSpPr>
        <a:xfrm>
          <a:off x="0" y="0"/>
          <a:ext cx="0" cy="0"/>
          <a:chOff x="0" y="0"/>
          <a:chExt cx="0" cy="0"/>
        </a:xfrm>
      </p:grpSpPr>
      <p:sp>
        <p:nvSpPr>
          <p:cNvPr id="2" name="Text 0"/>
          <p:cNvSpPr txBox="1"/>
          <p:nvPr/>
        </p:nvSpPr>
        <p:spPr>
          <a:xfrm>
            <a:off x="457200" y="292608"/>
            <a:ext cx="7680960" cy="457200"/>
          </a:xfrm>
          <a:prstGeom prst="rect">
            <a:avLst/>
          </a:prstGeom>
          <a:noFill/>
          <a:ln/>
        </p:spPr>
        <p:txBody>
          <a:bodyPr wrap="square" lIns="0" tIns="0" rIns="0" bIns="0" rtlCol="0" anchor="ctr"/>
          <a:lstStyle/>
          <a:p>
            <a:pPr indent="0" marL="0">
              <a:buNone/>
            </a:pPr>
            <a:r>
              <a:rPr lang="en-US" sz="3000" b="1" dirty="0">
                <a:solidFill>
                  <a:srgbClr val="E6EDF3"/>
                </a:solidFill>
                <a:latin typeface="Calibri" pitchFamily="34" charset="0"/>
                <a:ea typeface="Calibri" pitchFamily="34" charset="-122"/>
                <a:cs typeface="Calibri" pitchFamily="34" charset="-120"/>
              </a:rPr>
              <a:t>3Jevvs — one turn, end to end</a:t>
            </a:r>
            <a:endParaRPr lang="en-US" sz="3000" dirty="0"/>
          </a:p>
        </p:txBody>
      </p:sp>
      <p:sp>
        <p:nvSpPr>
          <p:cNvPr id="3" name="Text 1"/>
          <p:cNvSpPr txBox="1"/>
          <p:nvPr/>
        </p:nvSpPr>
        <p:spPr>
          <a:xfrm>
            <a:off x="8229600" y="402336"/>
            <a:ext cx="3502152" cy="365760"/>
          </a:xfrm>
          <a:prstGeom prst="rect">
            <a:avLst/>
          </a:prstGeom>
          <a:noFill/>
          <a:ln/>
        </p:spPr>
        <p:txBody>
          <a:bodyPr wrap="square" lIns="0" tIns="0" rIns="0" bIns="0" rtlCol="0" anchor="ctr"/>
          <a:lstStyle/>
          <a:p>
            <a:pPr algn="r" indent="0" marL="0">
              <a:buNone/>
            </a:pPr>
            <a:r>
              <a:rPr lang="en-US" sz="1300" dirty="0">
                <a:solidFill>
                  <a:srgbClr val="8B949E"/>
                </a:solidFill>
                <a:latin typeface="Calibri" pitchFamily="34" charset="0"/>
                <a:ea typeface="Calibri" pitchFamily="34" charset="-122"/>
                <a:cs typeface="Calibri" pitchFamily="34" charset="-120"/>
              </a:rPr>
              <a:t>Jev decides. Deterministic code executes. Pipecat carries the frames.</a:t>
            </a:r>
            <a:endParaRPr lang="en-US" sz="1300" dirty="0"/>
          </a:p>
        </p:txBody>
      </p:sp>
      <p:sp>
        <p:nvSpPr>
          <p:cNvPr id="4" name="Shape 2"/>
          <p:cNvSpPr/>
          <p:nvPr/>
        </p:nvSpPr>
        <p:spPr>
          <a:xfrm>
            <a:off x="457200" y="960120"/>
            <a:ext cx="2011680" cy="1051560"/>
          </a:xfrm>
          <a:prstGeom prst="roundRect">
            <a:avLst>
              <a:gd name="adj" fmla="val 5217"/>
            </a:avLst>
          </a:prstGeom>
          <a:solidFill>
            <a:srgbClr val="171D27"/>
          </a:solidFill>
          <a:ln w="12700">
            <a:solidFill>
              <a:srgbClr val="37D67A"/>
            </a:solidFill>
            <a:prstDash val="solid"/>
          </a:ln>
        </p:spPr>
      </p:sp>
      <p:sp>
        <p:nvSpPr>
          <p:cNvPr id="5" name="Text 3"/>
          <p:cNvSpPr txBox="1"/>
          <p:nvPr/>
        </p:nvSpPr>
        <p:spPr>
          <a:xfrm>
            <a:off x="566928" y="1033272"/>
            <a:ext cx="1792224" cy="274320"/>
          </a:xfrm>
          <a:prstGeom prst="rect">
            <a:avLst/>
          </a:prstGeom>
          <a:noFill/>
          <a:ln/>
        </p:spPr>
        <p:txBody>
          <a:bodyPr wrap="square" lIns="0" tIns="0" rIns="0" bIns="0" rtlCol="0" anchor="t"/>
          <a:lstStyle/>
          <a:p>
            <a:pPr indent="0" marL="0">
              <a:buNone/>
            </a:pPr>
            <a:r>
              <a:rPr lang="en-US" sz="1300" b="1" dirty="0">
                <a:solidFill>
                  <a:srgbClr val="37D67A"/>
                </a:solidFill>
                <a:latin typeface="Calibri" pitchFamily="34" charset="0"/>
                <a:ea typeface="Calibri" pitchFamily="34" charset="-122"/>
                <a:cs typeface="Calibri" pitchFamily="34" charset="-120"/>
              </a:rPr>
              <a:t>Browser</a:t>
            </a:r>
            <a:endParaRPr lang="en-US" sz="1300" dirty="0"/>
          </a:p>
        </p:txBody>
      </p:sp>
      <p:sp>
        <p:nvSpPr>
          <p:cNvPr id="6" name="Text 4"/>
          <p:cNvSpPr txBox="1"/>
          <p:nvPr/>
        </p:nvSpPr>
        <p:spPr>
          <a:xfrm>
            <a:off x="566928" y="1325880"/>
            <a:ext cx="1792224" cy="594360"/>
          </a:xfrm>
          <a:prstGeom prst="rect">
            <a:avLst/>
          </a:prstGeom>
          <a:noFill/>
          <a:ln/>
        </p:spPr>
        <p:txBody>
          <a:bodyPr wrap="square" lIns="0" tIns="0" rIns="0" bIns="0" rtlCol="0" anchor="t"/>
          <a:lstStyle/>
          <a:p>
            <a:pPr indent="0" marL="0">
              <a:lnSpc>
                <a:spcPct val="115000"/>
              </a:lnSpc>
              <a:buNone/>
            </a:pPr>
            <a:r>
              <a:rPr lang="en-US" sz="1150" dirty="0">
                <a:solidFill>
                  <a:srgbClr val="C9D1D9"/>
                </a:solidFill>
                <a:latin typeface="Calibri" pitchFamily="34" charset="0"/>
                <a:ea typeface="Calibri" pitchFamily="34" charset="-122"/>
                <a:cs typeface="Calibri" pitchFamily="34" charset="-120"/>
              </a:rPr>
              <a:t>Mic + camera over WebRTC. Video never leaves the page.</a:t>
            </a:r>
            <a:endParaRPr lang="en-US" sz="1150" dirty="0"/>
          </a:p>
        </p:txBody>
      </p:sp>
      <p:sp>
        <p:nvSpPr>
          <p:cNvPr id="7" name="Shape 5"/>
          <p:cNvSpPr/>
          <p:nvPr/>
        </p:nvSpPr>
        <p:spPr>
          <a:xfrm>
            <a:off x="2500884" y="1412748"/>
            <a:ext cx="237744" cy="146304"/>
          </a:xfrm>
          <a:prstGeom prst="rightArrow">
            <a:avLst/>
          </a:prstGeom>
          <a:solidFill>
            <a:srgbClr val="3A4553"/>
          </a:solidFill>
          <a:ln w="12700">
            <a:solidFill>
              <a:srgbClr val="3A4553"/>
            </a:solidFill>
            <a:prstDash val="solid"/>
          </a:ln>
        </p:spPr>
      </p:sp>
      <p:sp>
        <p:nvSpPr>
          <p:cNvPr id="8" name="Shape 6"/>
          <p:cNvSpPr/>
          <p:nvPr/>
        </p:nvSpPr>
        <p:spPr>
          <a:xfrm>
            <a:off x="2770632" y="960120"/>
            <a:ext cx="2011680" cy="1051560"/>
          </a:xfrm>
          <a:prstGeom prst="roundRect">
            <a:avLst>
              <a:gd name="adj" fmla="val 5217"/>
            </a:avLst>
          </a:prstGeom>
          <a:solidFill>
            <a:srgbClr val="171D27"/>
          </a:solidFill>
          <a:ln w="12700">
            <a:solidFill>
              <a:srgbClr val="37D67A"/>
            </a:solidFill>
            <a:prstDash val="solid"/>
          </a:ln>
        </p:spPr>
      </p:sp>
      <p:sp>
        <p:nvSpPr>
          <p:cNvPr id="9" name="Text 7"/>
          <p:cNvSpPr txBox="1"/>
          <p:nvPr/>
        </p:nvSpPr>
        <p:spPr>
          <a:xfrm>
            <a:off x="2880360" y="1033272"/>
            <a:ext cx="1792224" cy="274320"/>
          </a:xfrm>
          <a:prstGeom prst="rect">
            <a:avLst/>
          </a:prstGeom>
          <a:noFill/>
          <a:ln/>
        </p:spPr>
        <p:txBody>
          <a:bodyPr wrap="square" lIns="0" tIns="0" rIns="0" bIns="0" rtlCol="0" anchor="t"/>
          <a:lstStyle/>
          <a:p>
            <a:pPr indent="0" marL="0">
              <a:buNone/>
            </a:pPr>
            <a:r>
              <a:rPr lang="en-US" sz="1300" b="1" dirty="0">
                <a:solidFill>
                  <a:srgbClr val="37D67A"/>
                </a:solidFill>
                <a:latin typeface="Calibri" pitchFamily="34" charset="0"/>
                <a:ea typeface="Calibri" pitchFamily="34" charset="-122"/>
                <a:cs typeface="Calibri" pitchFamily="34" charset="-120"/>
              </a:rPr>
              <a:t>Silero VAD</a:t>
            </a:r>
            <a:endParaRPr lang="en-US" sz="1300" dirty="0"/>
          </a:p>
        </p:txBody>
      </p:sp>
      <p:sp>
        <p:nvSpPr>
          <p:cNvPr id="10" name="Text 8"/>
          <p:cNvSpPr txBox="1"/>
          <p:nvPr/>
        </p:nvSpPr>
        <p:spPr>
          <a:xfrm>
            <a:off x="2880360" y="1325880"/>
            <a:ext cx="1792224" cy="594360"/>
          </a:xfrm>
          <a:prstGeom prst="rect">
            <a:avLst/>
          </a:prstGeom>
          <a:noFill/>
          <a:ln/>
        </p:spPr>
        <p:txBody>
          <a:bodyPr wrap="square" lIns="0" tIns="0" rIns="0" bIns="0" rtlCol="0" anchor="t"/>
          <a:lstStyle/>
          <a:p>
            <a:pPr indent="0" marL="0">
              <a:lnSpc>
                <a:spcPct val="115000"/>
              </a:lnSpc>
              <a:buNone/>
            </a:pPr>
            <a:r>
              <a:rPr lang="en-US" sz="1150" dirty="0">
                <a:solidFill>
                  <a:srgbClr val="C9D1D9"/>
                </a:solidFill>
                <a:latin typeface="Calibri" pitchFamily="34" charset="0"/>
                <a:ea typeface="Calibri" pitchFamily="34" charset="-122"/>
                <a:cs typeface="Calibri" pitchFamily="34" charset="-120"/>
              </a:rPr>
              <a:t>Is anyone speaking. A signal only, never a turn.</a:t>
            </a:r>
            <a:endParaRPr lang="en-US" sz="1150" dirty="0"/>
          </a:p>
        </p:txBody>
      </p:sp>
      <p:sp>
        <p:nvSpPr>
          <p:cNvPr id="11" name="Shape 9"/>
          <p:cNvSpPr/>
          <p:nvPr/>
        </p:nvSpPr>
        <p:spPr>
          <a:xfrm>
            <a:off x="4814316" y="1412748"/>
            <a:ext cx="237744" cy="146304"/>
          </a:xfrm>
          <a:prstGeom prst="rightArrow">
            <a:avLst/>
          </a:prstGeom>
          <a:solidFill>
            <a:srgbClr val="3A4553"/>
          </a:solidFill>
          <a:ln w="12700">
            <a:solidFill>
              <a:srgbClr val="3A4553"/>
            </a:solidFill>
            <a:prstDash val="solid"/>
          </a:ln>
        </p:spPr>
      </p:sp>
      <p:sp>
        <p:nvSpPr>
          <p:cNvPr id="12" name="Shape 10"/>
          <p:cNvSpPr/>
          <p:nvPr/>
        </p:nvSpPr>
        <p:spPr>
          <a:xfrm>
            <a:off x="5084064" y="960120"/>
            <a:ext cx="2011680" cy="1051560"/>
          </a:xfrm>
          <a:prstGeom prst="roundRect">
            <a:avLst>
              <a:gd name="adj" fmla="val 5217"/>
            </a:avLst>
          </a:prstGeom>
          <a:solidFill>
            <a:srgbClr val="171D27"/>
          </a:solidFill>
          <a:ln w="12700">
            <a:solidFill>
              <a:srgbClr val="37D67A"/>
            </a:solidFill>
            <a:prstDash val="solid"/>
          </a:ln>
        </p:spPr>
      </p:sp>
      <p:sp>
        <p:nvSpPr>
          <p:cNvPr id="13" name="Text 11"/>
          <p:cNvSpPr txBox="1"/>
          <p:nvPr/>
        </p:nvSpPr>
        <p:spPr>
          <a:xfrm>
            <a:off x="5193792" y="1033272"/>
            <a:ext cx="1792224" cy="274320"/>
          </a:xfrm>
          <a:prstGeom prst="rect">
            <a:avLst/>
          </a:prstGeom>
          <a:noFill/>
          <a:ln/>
        </p:spPr>
        <p:txBody>
          <a:bodyPr wrap="square" lIns="0" tIns="0" rIns="0" bIns="0" rtlCol="0" anchor="t"/>
          <a:lstStyle/>
          <a:p>
            <a:pPr indent="0" marL="0">
              <a:buNone/>
            </a:pPr>
            <a:r>
              <a:rPr lang="en-US" sz="1300" b="1" dirty="0">
                <a:solidFill>
                  <a:srgbClr val="37D67A"/>
                </a:solidFill>
                <a:latin typeface="Calibri" pitchFamily="34" charset="0"/>
                <a:ea typeface="Calibri" pitchFamily="34" charset="-122"/>
                <a:cs typeface="Calibri" pitchFamily="34" charset="-120"/>
              </a:rPr>
              <a:t>ECAPA speaker ID</a:t>
            </a:r>
            <a:endParaRPr lang="en-US" sz="1300" dirty="0"/>
          </a:p>
        </p:txBody>
      </p:sp>
      <p:sp>
        <p:nvSpPr>
          <p:cNvPr id="14" name="Text 12"/>
          <p:cNvSpPr txBox="1"/>
          <p:nvPr/>
        </p:nvSpPr>
        <p:spPr>
          <a:xfrm>
            <a:off x="5193792" y="1325880"/>
            <a:ext cx="1792224" cy="594360"/>
          </a:xfrm>
          <a:prstGeom prst="rect">
            <a:avLst/>
          </a:prstGeom>
          <a:noFill/>
          <a:ln/>
        </p:spPr>
        <p:txBody>
          <a:bodyPr wrap="square" lIns="0" tIns="0" rIns="0" bIns="0" rtlCol="0" anchor="t"/>
          <a:lstStyle/>
          <a:p>
            <a:pPr indent="0" marL="0">
              <a:lnSpc>
                <a:spcPct val="115000"/>
              </a:lnSpc>
              <a:buNone/>
            </a:pPr>
            <a:r>
              <a:rPr lang="en-US" sz="1150" dirty="0">
                <a:solidFill>
                  <a:srgbClr val="C9D1D9"/>
                </a:solidFill>
                <a:latin typeface="Calibri" pitchFamily="34" charset="0"/>
                <a:ea typeface="Calibri" pitchFamily="34" charset="-122"/>
                <a:cs typeface="Calibri" pitchFamily="34" charset="-120"/>
              </a:rPr>
              <a:t>Which of up to 3 known voices. Names persist.</a:t>
            </a:r>
            <a:endParaRPr lang="en-US" sz="1150" dirty="0"/>
          </a:p>
        </p:txBody>
      </p:sp>
      <p:sp>
        <p:nvSpPr>
          <p:cNvPr id="15" name="Shape 13"/>
          <p:cNvSpPr/>
          <p:nvPr/>
        </p:nvSpPr>
        <p:spPr>
          <a:xfrm>
            <a:off x="7127748" y="1412748"/>
            <a:ext cx="237744" cy="146304"/>
          </a:xfrm>
          <a:prstGeom prst="rightArrow">
            <a:avLst/>
          </a:prstGeom>
          <a:solidFill>
            <a:srgbClr val="3A4553"/>
          </a:solidFill>
          <a:ln w="12700">
            <a:solidFill>
              <a:srgbClr val="3A4553"/>
            </a:solidFill>
            <a:prstDash val="solid"/>
          </a:ln>
        </p:spPr>
      </p:sp>
      <p:sp>
        <p:nvSpPr>
          <p:cNvPr id="16" name="Shape 14"/>
          <p:cNvSpPr/>
          <p:nvPr/>
        </p:nvSpPr>
        <p:spPr>
          <a:xfrm>
            <a:off x="7397496" y="960120"/>
            <a:ext cx="2011680" cy="1051560"/>
          </a:xfrm>
          <a:prstGeom prst="roundRect">
            <a:avLst>
              <a:gd name="adj" fmla="val 5217"/>
            </a:avLst>
          </a:prstGeom>
          <a:solidFill>
            <a:srgbClr val="171D27"/>
          </a:solidFill>
          <a:ln w="12700">
            <a:solidFill>
              <a:srgbClr val="37D67A"/>
            </a:solidFill>
            <a:prstDash val="solid"/>
          </a:ln>
        </p:spPr>
      </p:sp>
      <p:sp>
        <p:nvSpPr>
          <p:cNvPr id="17" name="Text 15"/>
          <p:cNvSpPr txBox="1"/>
          <p:nvPr/>
        </p:nvSpPr>
        <p:spPr>
          <a:xfrm>
            <a:off x="7507224" y="1033272"/>
            <a:ext cx="1792224" cy="274320"/>
          </a:xfrm>
          <a:prstGeom prst="rect">
            <a:avLst/>
          </a:prstGeom>
          <a:noFill/>
          <a:ln/>
        </p:spPr>
        <p:txBody>
          <a:bodyPr wrap="square" lIns="0" tIns="0" rIns="0" bIns="0" rtlCol="0" anchor="t"/>
          <a:lstStyle/>
          <a:p>
            <a:pPr indent="0" marL="0">
              <a:buNone/>
            </a:pPr>
            <a:r>
              <a:rPr lang="en-US" sz="1300" b="1" dirty="0">
                <a:solidFill>
                  <a:srgbClr val="37D67A"/>
                </a:solidFill>
                <a:latin typeface="Calibri" pitchFamily="34" charset="0"/>
                <a:ea typeface="Calibri" pitchFamily="34" charset="-122"/>
                <a:cs typeface="Calibri" pitchFamily="34" charset="-120"/>
              </a:rPr>
              <a:t>Gradium ASR</a:t>
            </a:r>
            <a:endParaRPr lang="en-US" sz="1300" dirty="0"/>
          </a:p>
        </p:txBody>
      </p:sp>
      <p:sp>
        <p:nvSpPr>
          <p:cNvPr id="18" name="Text 16"/>
          <p:cNvSpPr txBox="1"/>
          <p:nvPr/>
        </p:nvSpPr>
        <p:spPr>
          <a:xfrm>
            <a:off x="7507224" y="1325880"/>
            <a:ext cx="1792224" cy="594360"/>
          </a:xfrm>
          <a:prstGeom prst="rect">
            <a:avLst/>
          </a:prstGeom>
          <a:noFill/>
          <a:ln/>
        </p:spPr>
        <p:txBody>
          <a:bodyPr wrap="square" lIns="0" tIns="0" rIns="0" bIns="0" rtlCol="0" anchor="t"/>
          <a:lstStyle/>
          <a:p>
            <a:pPr indent="0" marL="0">
              <a:lnSpc>
                <a:spcPct val="115000"/>
              </a:lnSpc>
              <a:buNone/>
            </a:pPr>
            <a:r>
              <a:rPr lang="en-US" sz="1150" dirty="0">
                <a:solidFill>
                  <a:srgbClr val="C9D1D9"/>
                </a:solidFill>
                <a:latin typeface="Calibri" pitchFamily="34" charset="0"/>
                <a:ea typeface="Calibri" pitchFamily="34" charset="-122"/>
                <a:cs typeface="Calibri" pitchFamily="34" charset="-120"/>
              </a:rPr>
              <a:t>Streaming words, ~0.9 s behind the speaker.</a:t>
            </a:r>
            <a:endParaRPr lang="en-US" sz="1150" dirty="0"/>
          </a:p>
        </p:txBody>
      </p:sp>
      <p:sp>
        <p:nvSpPr>
          <p:cNvPr id="19" name="Shape 17"/>
          <p:cNvSpPr/>
          <p:nvPr/>
        </p:nvSpPr>
        <p:spPr>
          <a:xfrm>
            <a:off x="9441180" y="1412748"/>
            <a:ext cx="237744" cy="146304"/>
          </a:xfrm>
          <a:prstGeom prst="rightArrow">
            <a:avLst/>
          </a:prstGeom>
          <a:solidFill>
            <a:srgbClr val="3A4553"/>
          </a:solidFill>
          <a:ln w="12700">
            <a:solidFill>
              <a:srgbClr val="3A4553"/>
            </a:solidFill>
            <a:prstDash val="solid"/>
          </a:ln>
        </p:spPr>
      </p:sp>
      <p:sp>
        <p:nvSpPr>
          <p:cNvPr id="20" name="Shape 18"/>
          <p:cNvSpPr/>
          <p:nvPr/>
        </p:nvSpPr>
        <p:spPr>
          <a:xfrm>
            <a:off x="9710928" y="960120"/>
            <a:ext cx="2011680" cy="1051560"/>
          </a:xfrm>
          <a:prstGeom prst="roundRect">
            <a:avLst>
              <a:gd name="adj" fmla="val 5217"/>
            </a:avLst>
          </a:prstGeom>
          <a:solidFill>
            <a:srgbClr val="171D27"/>
          </a:solidFill>
          <a:ln w="12700">
            <a:solidFill>
              <a:srgbClr val="A371F7"/>
            </a:solidFill>
            <a:prstDash val="solid"/>
          </a:ln>
        </p:spPr>
      </p:sp>
      <p:sp>
        <p:nvSpPr>
          <p:cNvPr id="21" name="Text 19"/>
          <p:cNvSpPr txBox="1"/>
          <p:nvPr/>
        </p:nvSpPr>
        <p:spPr>
          <a:xfrm>
            <a:off x="9820656" y="1033272"/>
            <a:ext cx="1792224" cy="274320"/>
          </a:xfrm>
          <a:prstGeom prst="rect">
            <a:avLst/>
          </a:prstGeom>
          <a:noFill/>
          <a:ln/>
        </p:spPr>
        <p:txBody>
          <a:bodyPr wrap="square" lIns="0" tIns="0" rIns="0" bIns="0" rtlCol="0" anchor="t"/>
          <a:lstStyle/>
          <a:p>
            <a:pPr indent="0" marL="0">
              <a:buNone/>
            </a:pPr>
            <a:r>
              <a:rPr lang="en-US" sz="1300" b="1" dirty="0">
                <a:solidFill>
                  <a:srgbClr val="A371F7"/>
                </a:solidFill>
                <a:latin typeface="Calibri" pitchFamily="34" charset="0"/>
                <a:ea typeface="Calibri" pitchFamily="34" charset="-122"/>
                <a:cs typeface="Calibri" pitchFamily="34" charset="-120"/>
              </a:rPr>
              <a:t>Vision (MediaPipe)</a:t>
            </a:r>
            <a:endParaRPr lang="en-US" sz="1300" dirty="0"/>
          </a:p>
        </p:txBody>
      </p:sp>
      <p:sp>
        <p:nvSpPr>
          <p:cNvPr id="22" name="Text 20"/>
          <p:cNvSpPr txBox="1"/>
          <p:nvPr/>
        </p:nvSpPr>
        <p:spPr>
          <a:xfrm>
            <a:off x="9820656" y="1325880"/>
            <a:ext cx="1792224" cy="594360"/>
          </a:xfrm>
          <a:prstGeom prst="rect">
            <a:avLst/>
          </a:prstGeom>
          <a:noFill/>
          <a:ln/>
        </p:spPr>
        <p:txBody>
          <a:bodyPr wrap="square" lIns="0" tIns="0" rIns="0" bIns="0" rtlCol="0" anchor="t"/>
          <a:lstStyle/>
          <a:p>
            <a:pPr indent="0" marL="0">
              <a:lnSpc>
                <a:spcPct val="115000"/>
              </a:lnSpc>
              <a:buNone/>
            </a:pPr>
            <a:r>
              <a:rPr lang="en-US" sz="1150" dirty="0">
                <a:solidFill>
                  <a:srgbClr val="C9D1D9"/>
                </a:solidFill>
                <a:latin typeface="Calibri" pitchFamily="34" charset="0"/>
                <a:ea typeface="Calibri" pitchFamily="34" charset="-122"/>
                <a:cs typeface="Calibri" pitchFamily="34" charset="-120"/>
              </a:rPr>
              <a:t>Up to 4 faces. Sends numbers, never pixels.</a:t>
            </a:r>
            <a:endParaRPr lang="en-US" sz="1150" dirty="0"/>
          </a:p>
        </p:txBody>
      </p:sp>
      <p:sp>
        <p:nvSpPr>
          <p:cNvPr id="23" name="Shape 21"/>
          <p:cNvSpPr/>
          <p:nvPr/>
        </p:nvSpPr>
        <p:spPr>
          <a:xfrm>
            <a:off x="457200" y="2286000"/>
            <a:ext cx="11274552" cy="2212848"/>
          </a:xfrm>
          <a:prstGeom prst="roundRect">
            <a:avLst>
              <a:gd name="adj" fmla="val 2066"/>
            </a:avLst>
          </a:prstGeom>
          <a:solidFill>
            <a:srgbClr val="1B1A14"/>
          </a:solidFill>
          <a:ln w="19050">
            <a:solidFill>
              <a:srgbClr val="F5A623"/>
            </a:solidFill>
            <a:prstDash val="solid"/>
          </a:ln>
        </p:spPr>
      </p:sp>
      <p:sp>
        <p:nvSpPr>
          <p:cNvPr id="24" name="Text 22"/>
          <p:cNvSpPr txBox="1"/>
          <p:nvPr/>
        </p:nvSpPr>
        <p:spPr>
          <a:xfrm>
            <a:off x="658368" y="2395728"/>
            <a:ext cx="3840480" cy="320040"/>
          </a:xfrm>
          <a:prstGeom prst="rect">
            <a:avLst/>
          </a:prstGeom>
          <a:noFill/>
          <a:ln/>
        </p:spPr>
        <p:txBody>
          <a:bodyPr wrap="square" lIns="0" tIns="0" rIns="0" bIns="0" rtlCol="0" anchor="ctr"/>
          <a:lstStyle/>
          <a:p>
            <a:pPr indent="0" marL="0">
              <a:buNone/>
            </a:pPr>
            <a:r>
              <a:rPr lang="en-US" sz="1700" b="1" dirty="0">
                <a:solidFill>
                  <a:srgbClr val="F5A623"/>
                </a:solidFill>
                <a:latin typeface="Calibri" pitchFamily="34" charset="0"/>
                <a:ea typeface="Calibri" pitchFamily="34" charset="-122"/>
                <a:cs typeface="Calibri" pitchFamily="34" charset="-120"/>
              </a:rPr>
              <a:t>Jev — the decision layer</a:t>
            </a:r>
            <a:endParaRPr lang="en-US" sz="1700" dirty="0"/>
          </a:p>
        </p:txBody>
      </p:sp>
      <p:sp>
        <p:nvSpPr>
          <p:cNvPr id="25" name="Text 23"/>
          <p:cNvSpPr txBox="1"/>
          <p:nvPr/>
        </p:nvSpPr>
        <p:spPr>
          <a:xfrm>
            <a:off x="4572000" y="2441448"/>
            <a:ext cx="6976872" cy="274320"/>
          </a:xfrm>
          <a:prstGeom prst="rect">
            <a:avLst/>
          </a:prstGeom>
          <a:noFill/>
          <a:ln/>
        </p:spPr>
        <p:txBody>
          <a:bodyPr wrap="square" lIns="0" tIns="0" rIns="0" bIns="0" rtlCol="0" anchor="ctr"/>
          <a:lstStyle/>
          <a:p>
            <a:pPr algn="r" indent="0" marL="0">
              <a:buNone/>
            </a:pPr>
            <a:r>
              <a:rPr lang="en-US" sz="1250" dirty="0">
                <a:solidFill>
                  <a:srgbClr val="C9D1D9"/>
                </a:solidFill>
                <a:latin typeface="Calibri" pitchFamily="34" charset="0"/>
                <a:ea typeface="Calibri" pitchFamily="34" charset="-122"/>
                <a:cs typeface="Calibri" pitchFamily="34" charset="-120"/>
              </a:rPr>
              <a:t>All three answered in ONE fan-out request per pause, in parallel: 150–270 ms</a:t>
            </a:r>
            <a:endParaRPr lang="en-US" sz="1250" dirty="0"/>
          </a:p>
        </p:txBody>
      </p:sp>
      <p:sp>
        <p:nvSpPr>
          <p:cNvPr id="26" name="Shape 24"/>
          <p:cNvSpPr/>
          <p:nvPr/>
        </p:nvSpPr>
        <p:spPr>
          <a:xfrm>
            <a:off x="658368" y="2834640"/>
            <a:ext cx="3489960" cy="1508760"/>
          </a:xfrm>
          <a:prstGeom prst="roundRect">
            <a:avLst>
              <a:gd name="adj" fmla="val 3030"/>
            </a:avLst>
          </a:prstGeom>
          <a:solidFill>
            <a:srgbClr val="12161D"/>
          </a:solidFill>
          <a:ln w="12700">
            <a:solidFill>
              <a:srgbClr val="2F2A1C"/>
            </a:solidFill>
            <a:prstDash val="solid"/>
          </a:ln>
        </p:spPr>
      </p:sp>
      <p:sp>
        <p:nvSpPr>
          <p:cNvPr id="27" name="Text 25"/>
          <p:cNvSpPr txBox="1"/>
          <p:nvPr/>
        </p:nvSpPr>
        <p:spPr>
          <a:xfrm>
            <a:off x="786384" y="2907792"/>
            <a:ext cx="3233928" cy="256032"/>
          </a:xfrm>
          <a:prstGeom prst="rect">
            <a:avLst/>
          </a:prstGeom>
          <a:noFill/>
          <a:ln/>
        </p:spPr>
        <p:txBody>
          <a:bodyPr wrap="square" lIns="0" tIns="0" rIns="0" bIns="0" rtlCol="0" anchor="ctr"/>
          <a:lstStyle/>
          <a:p>
            <a:pPr indent="0" marL="0">
              <a:buNone/>
            </a:pPr>
            <a:r>
              <a:rPr lang="en-US" sz="1400" b="1" dirty="0">
                <a:solidFill>
                  <a:srgbClr val="E6EDF3"/>
                </a:solidFill>
                <a:latin typeface="Calibri" pitchFamily="34" charset="0"/>
                <a:ea typeface="Calibri" pitchFamily="34" charset="-122"/>
                <a:cs typeface="Calibri" pitchFamily="34" charset="-120"/>
              </a:rPr>
              <a:t>1 · Barge-in</a:t>
            </a:r>
            <a:endParaRPr lang="en-US" sz="1400" dirty="0"/>
          </a:p>
        </p:txBody>
      </p:sp>
      <p:sp>
        <p:nvSpPr>
          <p:cNvPr id="28" name="Text 26"/>
          <p:cNvSpPr txBox="1"/>
          <p:nvPr/>
        </p:nvSpPr>
        <p:spPr>
          <a:xfrm>
            <a:off x="786384" y="3200400"/>
            <a:ext cx="3233928" cy="548640"/>
          </a:xfrm>
          <a:prstGeom prst="rect">
            <a:avLst/>
          </a:prstGeom>
          <a:noFill/>
          <a:ln/>
        </p:spPr>
        <p:txBody>
          <a:bodyPr wrap="square" lIns="0" tIns="0" rIns="0" bIns="0" rtlCol="0" anchor="ctr"/>
          <a:lstStyle/>
          <a:p>
            <a:pPr indent="0" marL="0">
              <a:lnSpc>
                <a:spcPct val="115000"/>
              </a:lnSpc>
              <a:buNone/>
            </a:pPr>
            <a:r>
              <a:rPr lang="en-US" sz="1150" dirty="0">
                <a:solidFill>
                  <a:srgbClr val="C9D1D9"/>
                </a:solidFill>
                <a:latin typeface="Calibri" pitchFamily="34" charset="0"/>
                <a:ea typeface="Calibri" pitchFamily="34" charset="-122"/>
                <a:cs typeface="Calibri" pitchFamily="34" charset="-120"/>
              </a:rPr>
              <a:t>Someone talks over the bot. Interrupt, backchannel, side talk, echo or noise?</a:t>
            </a:r>
            <a:endParaRPr lang="en-US" sz="1150" dirty="0"/>
          </a:p>
        </p:txBody>
      </p:sp>
      <p:sp>
        <p:nvSpPr>
          <p:cNvPr id="29" name="Text 27"/>
          <p:cNvSpPr txBox="1"/>
          <p:nvPr/>
        </p:nvSpPr>
        <p:spPr>
          <a:xfrm>
            <a:off x="786384" y="3767328"/>
            <a:ext cx="3233928" cy="502920"/>
          </a:xfrm>
          <a:prstGeom prst="rect">
            <a:avLst/>
          </a:prstGeom>
          <a:noFill/>
          <a:ln/>
        </p:spPr>
        <p:txBody>
          <a:bodyPr wrap="square" lIns="0" tIns="0" rIns="0" bIns="0" rtlCol="0" anchor="ctr"/>
          <a:lstStyle/>
          <a:p>
            <a:pPr indent="0" marL="0">
              <a:lnSpc>
                <a:spcPct val="115000"/>
              </a:lnSpc>
              <a:buNone/>
            </a:pPr>
            <a:r>
              <a:rPr lang="en-US" sz="1150" dirty="0">
                <a:solidFill>
                  <a:srgbClr val="F5A623"/>
                </a:solidFill>
                <a:latin typeface="Calibri" pitchFamily="34" charset="0"/>
                <a:ea typeface="Calibri" pitchFamily="34" charset="-122"/>
                <a:cs typeface="Calibri" pitchFamily="34" charset="-120"/>
              </a:rPr>
              <a:t>Interrupt flushes the LLM, the TTS and the queued audio at once.</a:t>
            </a:r>
            <a:endParaRPr lang="en-US" sz="1150" dirty="0"/>
          </a:p>
        </p:txBody>
      </p:sp>
      <p:sp>
        <p:nvSpPr>
          <p:cNvPr id="30" name="Shape 28"/>
          <p:cNvSpPr/>
          <p:nvPr/>
        </p:nvSpPr>
        <p:spPr>
          <a:xfrm>
            <a:off x="4349496" y="2834640"/>
            <a:ext cx="3489960" cy="1508760"/>
          </a:xfrm>
          <a:prstGeom prst="roundRect">
            <a:avLst>
              <a:gd name="adj" fmla="val 3030"/>
            </a:avLst>
          </a:prstGeom>
          <a:solidFill>
            <a:srgbClr val="12161D"/>
          </a:solidFill>
          <a:ln w="12700">
            <a:solidFill>
              <a:srgbClr val="2F2A1C"/>
            </a:solidFill>
            <a:prstDash val="solid"/>
          </a:ln>
        </p:spPr>
      </p:sp>
      <p:sp>
        <p:nvSpPr>
          <p:cNvPr id="31" name="Text 29"/>
          <p:cNvSpPr txBox="1"/>
          <p:nvPr/>
        </p:nvSpPr>
        <p:spPr>
          <a:xfrm>
            <a:off x="4477512" y="2907792"/>
            <a:ext cx="3233928" cy="256032"/>
          </a:xfrm>
          <a:prstGeom prst="rect">
            <a:avLst/>
          </a:prstGeom>
          <a:noFill/>
          <a:ln/>
        </p:spPr>
        <p:txBody>
          <a:bodyPr wrap="square" lIns="0" tIns="0" rIns="0" bIns="0" rtlCol="0" anchor="ctr"/>
          <a:lstStyle/>
          <a:p>
            <a:pPr indent="0" marL="0">
              <a:buNone/>
            </a:pPr>
            <a:r>
              <a:rPr lang="en-US" sz="1400" b="1" dirty="0">
                <a:solidFill>
                  <a:srgbClr val="E6EDF3"/>
                </a:solidFill>
                <a:latin typeface="Calibri" pitchFamily="34" charset="0"/>
                <a:ea typeface="Calibri" pitchFamily="34" charset="-122"/>
                <a:cs typeface="Calibri" pitchFamily="34" charset="-120"/>
              </a:rPr>
              <a:t>2 · Turn-taking</a:t>
            </a:r>
            <a:endParaRPr lang="en-US" sz="1400" dirty="0"/>
          </a:p>
        </p:txBody>
      </p:sp>
      <p:sp>
        <p:nvSpPr>
          <p:cNvPr id="32" name="Text 30"/>
          <p:cNvSpPr txBox="1"/>
          <p:nvPr/>
        </p:nvSpPr>
        <p:spPr>
          <a:xfrm>
            <a:off x="4477512" y="3200400"/>
            <a:ext cx="3233928" cy="548640"/>
          </a:xfrm>
          <a:prstGeom prst="rect">
            <a:avLst/>
          </a:prstGeom>
          <a:noFill/>
          <a:ln/>
        </p:spPr>
        <p:txBody>
          <a:bodyPr wrap="square" lIns="0" tIns="0" rIns="0" bIns="0" rtlCol="0" anchor="ctr"/>
          <a:lstStyle/>
          <a:p>
            <a:pPr indent="0" marL="0">
              <a:lnSpc>
                <a:spcPct val="115000"/>
              </a:lnSpc>
              <a:buNone/>
            </a:pPr>
            <a:r>
              <a:rPr lang="en-US" sz="1150" dirty="0">
                <a:solidFill>
                  <a:srgbClr val="C9D1D9"/>
                </a:solidFill>
                <a:latin typeface="Calibri" pitchFamily="34" charset="0"/>
                <a:ea typeface="Calibri" pitchFamily="34" charset="-122"/>
                <a:cs typeface="Calibri" pitchFamily="34" charset="-120"/>
              </a:rPr>
              <a:t>They paused. Respond now, wait for more, or ignore this entirely?</a:t>
            </a:r>
            <a:endParaRPr lang="en-US" sz="1150" dirty="0"/>
          </a:p>
        </p:txBody>
      </p:sp>
      <p:sp>
        <p:nvSpPr>
          <p:cNvPr id="33" name="Text 31"/>
          <p:cNvSpPr txBox="1"/>
          <p:nvPr/>
        </p:nvSpPr>
        <p:spPr>
          <a:xfrm>
            <a:off x="4477512" y="3767328"/>
            <a:ext cx="3233928" cy="502920"/>
          </a:xfrm>
          <a:prstGeom prst="rect">
            <a:avLst/>
          </a:prstGeom>
          <a:noFill/>
          <a:ln/>
        </p:spPr>
        <p:txBody>
          <a:bodyPr wrap="square" lIns="0" tIns="0" rIns="0" bIns="0" rtlCol="0" anchor="ctr"/>
          <a:lstStyle/>
          <a:p>
            <a:pPr indent="0" marL="0">
              <a:lnSpc>
                <a:spcPct val="115000"/>
              </a:lnSpc>
              <a:buNone/>
            </a:pPr>
            <a:r>
              <a:rPr lang="en-US" sz="1150" dirty="0">
                <a:solidFill>
                  <a:srgbClr val="F5A623"/>
                </a:solidFill>
                <a:latin typeface="Calibri" pitchFamily="34" charset="0"/>
                <a:ea typeface="Calibri" pitchFamily="34" charset="-122"/>
                <a:cs typeface="Calibri" pitchFamily="34" charset="-120"/>
              </a:rPr>
              <a:t>Respond is what calls the LLM — decided on the partial transcript.</a:t>
            </a:r>
            <a:endParaRPr lang="en-US" sz="1150" dirty="0"/>
          </a:p>
        </p:txBody>
      </p:sp>
      <p:sp>
        <p:nvSpPr>
          <p:cNvPr id="34" name="Shape 32"/>
          <p:cNvSpPr/>
          <p:nvPr/>
        </p:nvSpPr>
        <p:spPr>
          <a:xfrm>
            <a:off x="8040624" y="2834640"/>
            <a:ext cx="3489960" cy="1508760"/>
          </a:xfrm>
          <a:prstGeom prst="roundRect">
            <a:avLst>
              <a:gd name="adj" fmla="val 3030"/>
            </a:avLst>
          </a:prstGeom>
          <a:solidFill>
            <a:srgbClr val="12161D"/>
          </a:solidFill>
          <a:ln w="12700">
            <a:solidFill>
              <a:srgbClr val="2F2A1C"/>
            </a:solidFill>
            <a:prstDash val="solid"/>
          </a:ln>
        </p:spPr>
      </p:sp>
      <p:sp>
        <p:nvSpPr>
          <p:cNvPr id="35" name="Text 33"/>
          <p:cNvSpPr txBox="1"/>
          <p:nvPr/>
        </p:nvSpPr>
        <p:spPr>
          <a:xfrm>
            <a:off x="8168640" y="2907792"/>
            <a:ext cx="3233928" cy="256032"/>
          </a:xfrm>
          <a:prstGeom prst="rect">
            <a:avLst/>
          </a:prstGeom>
          <a:noFill/>
          <a:ln/>
        </p:spPr>
        <p:txBody>
          <a:bodyPr wrap="square" lIns="0" tIns="0" rIns="0" bIns="0" rtlCol="0" anchor="ctr"/>
          <a:lstStyle/>
          <a:p>
            <a:pPr indent="0" marL="0">
              <a:buNone/>
            </a:pPr>
            <a:r>
              <a:rPr lang="en-US" sz="1400" b="1" dirty="0">
                <a:solidFill>
                  <a:srgbClr val="E6EDF3"/>
                </a:solidFill>
                <a:latin typeface="Calibri" pitchFamily="34" charset="0"/>
                <a:ea typeface="Calibri" pitchFamily="34" charset="-122"/>
                <a:cs typeface="Calibri" pitchFamily="34" charset="-120"/>
              </a:rPr>
              <a:t>3 · Routing</a:t>
            </a:r>
            <a:endParaRPr lang="en-US" sz="1400" dirty="0"/>
          </a:p>
        </p:txBody>
      </p:sp>
      <p:sp>
        <p:nvSpPr>
          <p:cNvPr id="36" name="Text 34"/>
          <p:cNvSpPr txBox="1"/>
          <p:nvPr/>
        </p:nvSpPr>
        <p:spPr>
          <a:xfrm>
            <a:off x="8168640" y="3200400"/>
            <a:ext cx="3233928" cy="548640"/>
          </a:xfrm>
          <a:prstGeom prst="rect">
            <a:avLst/>
          </a:prstGeom>
          <a:noFill/>
          <a:ln/>
        </p:spPr>
        <p:txBody>
          <a:bodyPr wrap="square" lIns="0" tIns="0" rIns="0" bIns="0" rtlCol="0" anchor="ctr"/>
          <a:lstStyle/>
          <a:p>
            <a:pPr indent="0" marL="0">
              <a:lnSpc>
                <a:spcPct val="115000"/>
              </a:lnSpc>
              <a:buNone/>
            </a:pPr>
            <a:r>
              <a:rPr lang="en-US" sz="1150" dirty="0">
                <a:solidFill>
                  <a:srgbClr val="C9D1D9"/>
                </a:solidFill>
                <a:latin typeface="Calibri" pitchFamily="34" charset="0"/>
                <a:ea typeface="Calibri" pitchFamily="34" charset="-122"/>
                <a:cs typeface="Calibri" pitchFamily="34" charset="-120"/>
              </a:rPr>
              <a:t>Which filler to speak, is this a background job, did someone just introduce themselves?</a:t>
            </a:r>
            <a:endParaRPr lang="en-US" sz="1150" dirty="0"/>
          </a:p>
        </p:txBody>
      </p:sp>
      <p:sp>
        <p:nvSpPr>
          <p:cNvPr id="37" name="Text 35"/>
          <p:cNvSpPr txBox="1"/>
          <p:nvPr/>
        </p:nvSpPr>
        <p:spPr>
          <a:xfrm>
            <a:off x="8168640" y="3767328"/>
            <a:ext cx="3233928" cy="502920"/>
          </a:xfrm>
          <a:prstGeom prst="rect">
            <a:avLst/>
          </a:prstGeom>
          <a:noFill/>
          <a:ln/>
        </p:spPr>
        <p:txBody>
          <a:bodyPr wrap="square" lIns="0" tIns="0" rIns="0" bIns="0" rtlCol="0" anchor="ctr"/>
          <a:lstStyle/>
          <a:p>
            <a:pPr indent="0" marL="0">
              <a:lnSpc>
                <a:spcPct val="115000"/>
              </a:lnSpc>
              <a:buNone/>
            </a:pPr>
            <a:r>
              <a:rPr lang="en-US" sz="1150" dirty="0">
                <a:solidFill>
                  <a:srgbClr val="F5A623"/>
                </a:solidFill>
                <a:latin typeface="Calibri" pitchFamily="34" charset="0"/>
                <a:ea typeface="Calibri" pitchFamily="34" charset="-122"/>
                <a:cs typeface="Calibri" pitchFamily="34" charset="-120"/>
              </a:rPr>
              <a:t>One extra question each, so none of it costs a round trip.</a:t>
            </a:r>
            <a:endParaRPr lang="en-US" sz="1150" dirty="0"/>
          </a:p>
        </p:txBody>
      </p:sp>
      <p:sp>
        <p:nvSpPr>
          <p:cNvPr id="38" name="Shape 36"/>
          <p:cNvSpPr/>
          <p:nvPr/>
        </p:nvSpPr>
        <p:spPr>
          <a:xfrm>
            <a:off x="457200" y="4754880"/>
            <a:ext cx="2612898" cy="1005840"/>
          </a:xfrm>
          <a:prstGeom prst="roundRect">
            <a:avLst>
              <a:gd name="adj" fmla="val 5455"/>
            </a:avLst>
          </a:prstGeom>
          <a:solidFill>
            <a:srgbClr val="171D27"/>
          </a:solidFill>
          <a:ln w="12700">
            <a:solidFill>
              <a:srgbClr val="2F81F7"/>
            </a:solidFill>
            <a:prstDash val="solid"/>
          </a:ln>
        </p:spPr>
      </p:sp>
      <p:sp>
        <p:nvSpPr>
          <p:cNvPr id="39" name="Text 37"/>
          <p:cNvSpPr txBox="1"/>
          <p:nvPr/>
        </p:nvSpPr>
        <p:spPr>
          <a:xfrm>
            <a:off x="566928" y="4828032"/>
            <a:ext cx="2393442" cy="274320"/>
          </a:xfrm>
          <a:prstGeom prst="rect">
            <a:avLst/>
          </a:prstGeom>
          <a:noFill/>
          <a:ln/>
        </p:spPr>
        <p:txBody>
          <a:bodyPr wrap="square" lIns="0" tIns="0" rIns="0" bIns="0" rtlCol="0" anchor="t"/>
          <a:lstStyle/>
          <a:p>
            <a:pPr indent="0" marL="0">
              <a:buNone/>
            </a:pPr>
            <a:r>
              <a:rPr lang="en-US" sz="1300" b="1" dirty="0">
                <a:solidFill>
                  <a:srgbClr val="2F81F7"/>
                </a:solidFill>
                <a:latin typeface="Calibri" pitchFamily="34" charset="0"/>
                <a:ea typeface="Calibri" pitchFamily="34" charset="-122"/>
                <a:cs typeface="Calibri" pitchFamily="34" charset="-120"/>
              </a:rPr>
              <a:t>Cached filler</a:t>
            </a:r>
            <a:endParaRPr lang="en-US" sz="1300" dirty="0"/>
          </a:p>
        </p:txBody>
      </p:sp>
      <p:sp>
        <p:nvSpPr>
          <p:cNvPr id="40" name="Text 38"/>
          <p:cNvSpPr txBox="1"/>
          <p:nvPr/>
        </p:nvSpPr>
        <p:spPr>
          <a:xfrm>
            <a:off x="566928" y="5120640"/>
            <a:ext cx="2393442" cy="548640"/>
          </a:xfrm>
          <a:prstGeom prst="rect">
            <a:avLst/>
          </a:prstGeom>
          <a:noFill/>
          <a:ln/>
        </p:spPr>
        <p:txBody>
          <a:bodyPr wrap="square" lIns="0" tIns="0" rIns="0" bIns="0" rtlCol="0" anchor="t"/>
          <a:lstStyle/>
          <a:p>
            <a:pPr indent="0" marL="0">
              <a:lnSpc>
                <a:spcPct val="115000"/>
              </a:lnSpc>
              <a:buNone/>
            </a:pPr>
            <a:r>
              <a:rPr lang="en-US" sz="1150" dirty="0">
                <a:solidFill>
                  <a:srgbClr val="C9D1D9"/>
                </a:solidFill>
                <a:latin typeface="Calibri" pitchFamily="34" charset="0"/>
                <a:ea typeface="Calibri" pitchFamily="34" charset="-122"/>
                <a:cs typeface="Calibri" pitchFamily="34" charset="-120"/>
              </a:rPr>
              <a:t>“Hmm.” at 0.3 s, so the wait is never silence.</a:t>
            </a:r>
            <a:endParaRPr lang="en-US" sz="1150" dirty="0"/>
          </a:p>
        </p:txBody>
      </p:sp>
      <p:sp>
        <p:nvSpPr>
          <p:cNvPr id="41" name="Shape 39"/>
          <p:cNvSpPr/>
          <p:nvPr/>
        </p:nvSpPr>
        <p:spPr>
          <a:xfrm>
            <a:off x="3344418" y="4754880"/>
            <a:ext cx="2612898" cy="1005840"/>
          </a:xfrm>
          <a:prstGeom prst="roundRect">
            <a:avLst>
              <a:gd name="adj" fmla="val 5455"/>
            </a:avLst>
          </a:prstGeom>
          <a:solidFill>
            <a:srgbClr val="171D27"/>
          </a:solidFill>
          <a:ln w="12700">
            <a:solidFill>
              <a:srgbClr val="2F81F7"/>
            </a:solidFill>
            <a:prstDash val="solid"/>
          </a:ln>
        </p:spPr>
      </p:sp>
      <p:sp>
        <p:nvSpPr>
          <p:cNvPr id="42" name="Text 40"/>
          <p:cNvSpPr txBox="1"/>
          <p:nvPr/>
        </p:nvSpPr>
        <p:spPr>
          <a:xfrm>
            <a:off x="3454146" y="4828032"/>
            <a:ext cx="2393442" cy="274320"/>
          </a:xfrm>
          <a:prstGeom prst="rect">
            <a:avLst/>
          </a:prstGeom>
          <a:noFill/>
          <a:ln/>
        </p:spPr>
        <p:txBody>
          <a:bodyPr wrap="square" lIns="0" tIns="0" rIns="0" bIns="0" rtlCol="0" anchor="t"/>
          <a:lstStyle/>
          <a:p>
            <a:pPr indent="0" marL="0">
              <a:buNone/>
            </a:pPr>
            <a:r>
              <a:rPr lang="en-US" sz="1300" b="1" dirty="0">
                <a:solidFill>
                  <a:srgbClr val="2F81F7"/>
                </a:solidFill>
                <a:latin typeface="Calibri" pitchFamily="34" charset="0"/>
                <a:ea typeface="Calibri" pitchFamily="34" charset="-122"/>
                <a:cs typeface="Calibri" pitchFamily="34" charset="-120"/>
              </a:rPr>
              <a:t>LLM</a:t>
            </a:r>
            <a:endParaRPr lang="en-US" sz="1300" dirty="0"/>
          </a:p>
        </p:txBody>
      </p:sp>
      <p:sp>
        <p:nvSpPr>
          <p:cNvPr id="43" name="Text 41"/>
          <p:cNvSpPr txBox="1"/>
          <p:nvPr/>
        </p:nvSpPr>
        <p:spPr>
          <a:xfrm>
            <a:off x="3454146" y="5120640"/>
            <a:ext cx="2393442" cy="548640"/>
          </a:xfrm>
          <a:prstGeom prst="rect">
            <a:avLst/>
          </a:prstGeom>
          <a:noFill/>
          <a:ln/>
        </p:spPr>
        <p:txBody>
          <a:bodyPr wrap="square" lIns="0" tIns="0" rIns="0" bIns="0" rtlCol="0" anchor="t"/>
          <a:lstStyle/>
          <a:p>
            <a:pPr indent="0" marL="0">
              <a:lnSpc>
                <a:spcPct val="115000"/>
              </a:lnSpc>
              <a:buNone/>
            </a:pPr>
            <a:r>
              <a:rPr lang="en-US" sz="1150" dirty="0">
                <a:solidFill>
                  <a:srgbClr val="C9D1D9"/>
                </a:solidFill>
                <a:latin typeface="Calibri" pitchFamily="34" charset="0"/>
                <a:ea typeface="Calibri" pitchFamily="34" charset="-122"/>
                <a:cs typeface="Calibri" pitchFamily="34" charset="-120"/>
              </a:rPr>
              <a:t>gpt-oss-120b on General Compute, memory in its prompt.</a:t>
            </a:r>
            <a:endParaRPr lang="en-US" sz="1150" dirty="0"/>
          </a:p>
        </p:txBody>
      </p:sp>
      <p:sp>
        <p:nvSpPr>
          <p:cNvPr id="44" name="Shape 42"/>
          <p:cNvSpPr/>
          <p:nvPr/>
        </p:nvSpPr>
        <p:spPr>
          <a:xfrm>
            <a:off x="6231636" y="4754880"/>
            <a:ext cx="2612898" cy="1005840"/>
          </a:xfrm>
          <a:prstGeom prst="roundRect">
            <a:avLst>
              <a:gd name="adj" fmla="val 5455"/>
            </a:avLst>
          </a:prstGeom>
          <a:solidFill>
            <a:srgbClr val="171D27"/>
          </a:solidFill>
          <a:ln w="12700">
            <a:solidFill>
              <a:srgbClr val="2F81F7"/>
            </a:solidFill>
            <a:prstDash val="solid"/>
          </a:ln>
        </p:spPr>
      </p:sp>
      <p:sp>
        <p:nvSpPr>
          <p:cNvPr id="45" name="Text 43"/>
          <p:cNvSpPr txBox="1"/>
          <p:nvPr/>
        </p:nvSpPr>
        <p:spPr>
          <a:xfrm>
            <a:off x="6341364" y="4828032"/>
            <a:ext cx="2393442" cy="274320"/>
          </a:xfrm>
          <a:prstGeom prst="rect">
            <a:avLst/>
          </a:prstGeom>
          <a:noFill/>
          <a:ln/>
        </p:spPr>
        <p:txBody>
          <a:bodyPr wrap="square" lIns="0" tIns="0" rIns="0" bIns="0" rtlCol="0" anchor="t"/>
          <a:lstStyle/>
          <a:p>
            <a:pPr indent="0" marL="0">
              <a:buNone/>
            </a:pPr>
            <a:r>
              <a:rPr lang="en-US" sz="1300" b="1" dirty="0">
                <a:solidFill>
                  <a:srgbClr val="2F81F7"/>
                </a:solidFill>
                <a:latin typeface="Calibri" pitchFamily="34" charset="0"/>
                <a:ea typeface="Calibri" pitchFamily="34" charset="-122"/>
                <a:cs typeface="Calibri" pitchFamily="34" charset="-120"/>
              </a:rPr>
              <a:t>Gradium TTS</a:t>
            </a:r>
            <a:endParaRPr lang="en-US" sz="1300" dirty="0"/>
          </a:p>
        </p:txBody>
      </p:sp>
      <p:sp>
        <p:nvSpPr>
          <p:cNvPr id="46" name="Text 44"/>
          <p:cNvSpPr txBox="1"/>
          <p:nvPr/>
        </p:nvSpPr>
        <p:spPr>
          <a:xfrm>
            <a:off x="6341364" y="5120640"/>
            <a:ext cx="2393442" cy="548640"/>
          </a:xfrm>
          <a:prstGeom prst="rect">
            <a:avLst/>
          </a:prstGeom>
          <a:noFill/>
          <a:ln/>
        </p:spPr>
        <p:txBody>
          <a:bodyPr wrap="square" lIns="0" tIns="0" rIns="0" bIns="0" rtlCol="0" anchor="t"/>
          <a:lstStyle/>
          <a:p>
            <a:pPr indent="0" marL="0">
              <a:lnSpc>
                <a:spcPct val="115000"/>
              </a:lnSpc>
              <a:buNone/>
            </a:pPr>
            <a:r>
              <a:rPr lang="en-US" sz="1150" dirty="0">
                <a:solidFill>
                  <a:srgbClr val="C9D1D9"/>
                </a:solidFill>
                <a:latin typeface="Calibri" pitchFamily="34" charset="0"/>
                <a:ea typeface="Calibri" pitchFamily="34" charset="-122"/>
                <a:cs typeface="Calibri" pitchFamily="34" charset="-120"/>
              </a:rPr>
              <a:t>Speech back over the same WebRTC call.</a:t>
            </a:r>
            <a:endParaRPr lang="en-US" sz="1150" dirty="0"/>
          </a:p>
        </p:txBody>
      </p:sp>
      <p:sp>
        <p:nvSpPr>
          <p:cNvPr id="47" name="Shape 45"/>
          <p:cNvSpPr/>
          <p:nvPr/>
        </p:nvSpPr>
        <p:spPr>
          <a:xfrm>
            <a:off x="9118854" y="4754880"/>
            <a:ext cx="2612898" cy="1005840"/>
          </a:xfrm>
          <a:prstGeom prst="roundRect">
            <a:avLst>
              <a:gd name="adj" fmla="val 5455"/>
            </a:avLst>
          </a:prstGeom>
          <a:solidFill>
            <a:srgbClr val="171D27"/>
          </a:solidFill>
          <a:ln w="12700">
            <a:solidFill>
              <a:srgbClr val="A371F7"/>
            </a:solidFill>
            <a:prstDash val="solid"/>
          </a:ln>
        </p:spPr>
      </p:sp>
      <p:sp>
        <p:nvSpPr>
          <p:cNvPr id="48" name="Text 46"/>
          <p:cNvSpPr txBox="1"/>
          <p:nvPr/>
        </p:nvSpPr>
        <p:spPr>
          <a:xfrm>
            <a:off x="9228582" y="4828032"/>
            <a:ext cx="2393442" cy="274320"/>
          </a:xfrm>
          <a:prstGeom prst="rect">
            <a:avLst/>
          </a:prstGeom>
          <a:noFill/>
          <a:ln/>
        </p:spPr>
        <p:txBody>
          <a:bodyPr wrap="square" lIns="0" tIns="0" rIns="0" bIns="0" rtlCol="0" anchor="t"/>
          <a:lstStyle/>
          <a:p>
            <a:pPr indent="0" marL="0">
              <a:buNone/>
            </a:pPr>
            <a:r>
              <a:rPr lang="en-US" sz="1300" b="1" dirty="0">
                <a:solidFill>
                  <a:srgbClr val="A371F7"/>
                </a:solidFill>
                <a:latin typeface="Calibri" pitchFamily="34" charset="0"/>
                <a:ea typeface="Calibri" pitchFamily="34" charset="-122"/>
                <a:cs typeface="Calibri" pitchFamily="34" charset="-120"/>
              </a:rPr>
              <a:t>Background agents</a:t>
            </a:r>
            <a:endParaRPr lang="en-US" sz="1300" dirty="0"/>
          </a:p>
        </p:txBody>
      </p:sp>
      <p:sp>
        <p:nvSpPr>
          <p:cNvPr id="49" name="Text 47"/>
          <p:cNvSpPr txBox="1"/>
          <p:nvPr/>
        </p:nvSpPr>
        <p:spPr>
          <a:xfrm>
            <a:off x="9228582" y="5120640"/>
            <a:ext cx="2393442" cy="548640"/>
          </a:xfrm>
          <a:prstGeom prst="rect">
            <a:avLst/>
          </a:prstGeom>
          <a:noFill/>
          <a:ln/>
        </p:spPr>
        <p:txBody>
          <a:bodyPr wrap="square" lIns="0" tIns="0" rIns="0" bIns="0" rtlCol="0" anchor="t"/>
          <a:lstStyle/>
          <a:p>
            <a:pPr indent="0" marL="0">
              <a:lnSpc>
                <a:spcPct val="115000"/>
              </a:lnSpc>
              <a:buNone/>
            </a:pPr>
            <a:r>
              <a:rPr lang="en-US" sz="1150" dirty="0">
                <a:solidFill>
                  <a:srgbClr val="C9D1D9"/>
                </a:solidFill>
                <a:latin typeface="Calibri" pitchFamily="34" charset="0"/>
                <a:ea typeface="Calibri" pitchFamily="34" charset="-122"/>
                <a:cs typeface="Calibri" pitchFamily="34" charset="-120"/>
              </a:rPr>
              <a:t>Timer, stock, scores — spoken at the next gap.</a:t>
            </a:r>
            <a:endParaRPr lang="en-US" sz="1150" dirty="0"/>
          </a:p>
        </p:txBody>
      </p:sp>
      <p:sp>
        <p:nvSpPr>
          <p:cNvPr id="50" name="Text 48"/>
          <p:cNvSpPr txBox="1"/>
          <p:nvPr/>
        </p:nvSpPr>
        <p:spPr>
          <a:xfrm>
            <a:off x="457200" y="6144768"/>
            <a:ext cx="11274552" cy="274320"/>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First sound 0.30–0.40 s  ·  answer 1.28–1.31 s  ·  barge-in stops the bot ~0.85 s after the first syllable  ·  measured on main, 19 Sept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457200" y="292608"/>
            <a:ext cx="11274552" cy="457200"/>
          </a:xfrm>
          <a:prstGeom prst="rect">
            <a:avLst/>
          </a:prstGeom>
          <a:noFill/>
          <a:ln/>
        </p:spPr>
        <p:txBody>
          <a:bodyPr wrap="square" lIns="0" tIns="0" rIns="0" bIns="0" rtlCol="0" anchor="ctr"/>
          <a:lstStyle/>
          <a:p>
            <a:pPr indent="0" marL="0">
              <a:buNone/>
            </a:pPr>
            <a:r>
              <a:rPr lang="en-US" sz="3000" b="1" dirty="0">
                <a:solidFill>
                  <a:srgbClr val="E6EDF3"/>
                </a:solidFill>
                <a:latin typeface="Calibri" pitchFamily="34" charset="0"/>
                <a:ea typeface="Calibri" pitchFamily="34" charset="-122"/>
                <a:cs typeface="Calibri" pitchFamily="34" charset="-120"/>
              </a:rPr>
              <a:t>Every module, and what happens when it's missing</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11274552" cy="914400"/>
        </p:xfrm>
        <a:graphic>
          <a:graphicData uri="http://schemas.openxmlformats.org/drawingml/2006/table">
            <a:tbl>
              <a:tblPr/>
              <a:tblGrid>
                <a:gridCol w="2468880"/>
                <a:gridCol w="4937760"/>
                <a:gridCol w="3867912"/>
              </a:tblGrid>
              <a:tr h="310896">
                <a:tc>
                  <a:txBody>
                    <a:bodyPr/>
                    <a:lstStyle/>
                    <a:p>
                      <a:pPr indent="0" marL="0">
                        <a:buNone/>
                      </a:pPr>
                      <a:r>
                        <a:rPr lang="en-US" sz="1200" b="1" dirty="0">
                          <a:solidFill>
                            <a:srgbClr val="8B949E"/>
                          </a:solidFill>
                          <a:latin typeface="Calibri" pitchFamily="34" charset="0"/>
                          <a:ea typeface="Calibri" pitchFamily="34" charset="-122"/>
                          <a:cs typeface="Calibri" pitchFamily="34" charset="-120"/>
                        </a:rPr>
                        <a:t>Module</a:t>
                      </a:r>
                      <a:endParaRPr lang="en-US" sz="1200" dirty="0">
                        <a:latin typeface="Calibri" charset="0"/>
                        <a:ea typeface="Calibri" charset="0"/>
                        <a:cs typeface="Calibri" charset="0"/>
                      </a:endParaRPr>
                    </a:p>
                  </a:txBody>
                  <a:tcPr marL="101600" marR="101600" marT="101600" marB="101600" anchor="ctr">
                    <a:lnL w="12700" cap="flat" cmpd="sng" algn="ctr">
                      <a:solidFill>
                        <a:srgbClr val="262D36"/>
                      </a:solidFill>
                      <a:prstDash val="solid"/>
                      <a:round/>
                      <a:headEnd type="none" w="med" len="med"/>
                      <a:tailEnd type="none" w="med" len="med"/>
                    </a:lnL>
                    <a:lnR w="12700" cap="flat" cmpd="sng" algn="ctr">
                      <a:solidFill>
                        <a:srgbClr val="262D36"/>
                      </a:solidFill>
                      <a:prstDash val="solid"/>
                      <a:round/>
                      <a:headEnd type="none" w="med" len="med"/>
                      <a:tailEnd type="none" w="med" len="med"/>
                    </a:lnR>
                    <a:lnT w="12700" cap="flat" cmpd="sng" algn="ctr">
                      <a:solidFill>
                        <a:srgbClr val="262D36"/>
                      </a:solidFill>
                      <a:prstDash val="solid"/>
                      <a:round/>
                      <a:headEnd type="none" w="med" len="med"/>
                      <a:tailEnd type="none" w="med" len="med"/>
                    </a:lnT>
                    <a:lnB w="12700" cap="flat" cmpd="sng" algn="ctr">
                      <a:solidFill>
                        <a:srgbClr val="262D36"/>
                      </a:solidFill>
                      <a:prstDash val="solid"/>
                      <a:round/>
                      <a:headEnd type="none" w="med" len="med"/>
                      <a:tailEnd type="none" w="med" len="med"/>
                    </a:lnB>
                    <a:solidFill>
                      <a:srgbClr val="171D27"/>
                    </a:solidFill>
                  </a:tcPr>
                </a:tc>
                <a:tc>
                  <a:txBody>
                    <a:bodyPr/>
                    <a:lstStyle/>
                    <a:p>
                      <a:pPr indent="0" marL="0">
                        <a:buNone/>
                      </a:pPr>
                      <a:r>
                        <a:rPr lang="en-US" sz="1200" b="1" dirty="0">
                          <a:solidFill>
                            <a:srgbClr val="8B949E"/>
                          </a:solidFill>
                          <a:latin typeface="Calibri" pitchFamily="34" charset="0"/>
                          <a:ea typeface="Calibri" pitchFamily="34" charset="-122"/>
                          <a:cs typeface="Calibri" pitchFamily="34" charset="-120"/>
                        </a:rPr>
                        <a:t>What it does</a:t>
                      </a:r>
                      <a:endParaRPr lang="en-US" sz="1200" dirty="0">
                        <a:latin typeface="Calibri" charset="0"/>
                        <a:ea typeface="Calibri" charset="0"/>
                        <a:cs typeface="Calibri" charset="0"/>
                      </a:endParaRPr>
                    </a:p>
                  </a:txBody>
                  <a:tcPr marL="101600" marR="101600" marT="101600" marB="101600" anchor="ctr">
                    <a:lnL w="12700" cap="flat" cmpd="sng" algn="ctr">
                      <a:solidFill>
                        <a:srgbClr val="262D36"/>
                      </a:solidFill>
                      <a:prstDash val="solid"/>
                      <a:round/>
                      <a:headEnd type="none" w="med" len="med"/>
                      <a:tailEnd type="none" w="med" len="med"/>
                    </a:lnL>
                    <a:lnR w="12700" cap="flat" cmpd="sng" algn="ctr">
                      <a:solidFill>
                        <a:srgbClr val="262D36"/>
                      </a:solidFill>
                      <a:prstDash val="solid"/>
                      <a:round/>
                      <a:headEnd type="none" w="med" len="med"/>
                      <a:tailEnd type="none" w="med" len="med"/>
                    </a:lnR>
                    <a:lnT w="12700" cap="flat" cmpd="sng" algn="ctr">
                      <a:solidFill>
                        <a:srgbClr val="262D36"/>
                      </a:solidFill>
                      <a:prstDash val="solid"/>
                      <a:round/>
                      <a:headEnd type="none" w="med" len="med"/>
                      <a:tailEnd type="none" w="med" len="med"/>
                    </a:lnT>
                    <a:lnB w="12700" cap="flat" cmpd="sng" algn="ctr">
                      <a:solidFill>
                        <a:srgbClr val="262D36"/>
                      </a:solidFill>
                      <a:prstDash val="solid"/>
                      <a:round/>
                      <a:headEnd type="none" w="med" len="med"/>
                      <a:tailEnd type="none" w="med" len="med"/>
                    </a:lnB>
                    <a:solidFill>
                      <a:srgbClr val="171D27"/>
                    </a:solidFill>
                  </a:tcPr>
                </a:tc>
                <a:tc>
                  <a:txBody>
                    <a:bodyPr/>
                    <a:lstStyle/>
                    <a:p>
                      <a:pPr indent="0" marL="0">
                        <a:buNone/>
                      </a:pPr>
                      <a:r>
                        <a:rPr lang="en-US" sz="1200" b="1" dirty="0">
                          <a:solidFill>
                            <a:srgbClr val="8B949E"/>
                          </a:solidFill>
                          <a:latin typeface="Calibri" pitchFamily="34" charset="0"/>
                          <a:ea typeface="Calibri" pitchFamily="34" charset="-122"/>
                          <a:cs typeface="Calibri" pitchFamily="34" charset="-120"/>
                        </a:rPr>
                        <a:t>Without it</a:t>
                      </a:r>
                      <a:endParaRPr lang="en-US" sz="1200" dirty="0">
                        <a:latin typeface="Calibri" charset="0"/>
                        <a:ea typeface="Calibri" charset="0"/>
                        <a:cs typeface="Calibri" charset="0"/>
                      </a:endParaRPr>
                    </a:p>
                  </a:txBody>
                  <a:tcPr marL="101600" marR="101600" marT="101600" marB="101600" anchor="ctr">
                    <a:lnL w="12700" cap="flat" cmpd="sng" algn="ctr">
                      <a:solidFill>
                        <a:srgbClr val="262D36"/>
                      </a:solidFill>
                      <a:prstDash val="solid"/>
                      <a:round/>
                      <a:headEnd type="none" w="med" len="med"/>
                      <a:tailEnd type="none" w="med" len="med"/>
                    </a:lnL>
                    <a:lnR w="12700" cap="flat" cmpd="sng" algn="ctr">
                      <a:solidFill>
                        <a:srgbClr val="262D36"/>
                      </a:solidFill>
                      <a:prstDash val="solid"/>
                      <a:round/>
                      <a:headEnd type="none" w="med" len="med"/>
                      <a:tailEnd type="none" w="med" len="med"/>
                    </a:lnR>
                    <a:lnT w="12700" cap="flat" cmpd="sng" algn="ctr">
                      <a:solidFill>
                        <a:srgbClr val="262D36"/>
                      </a:solidFill>
                      <a:prstDash val="solid"/>
                      <a:round/>
                      <a:headEnd type="none" w="med" len="med"/>
                      <a:tailEnd type="none" w="med" len="med"/>
                    </a:lnT>
                    <a:lnB w="12700" cap="flat" cmpd="sng" algn="ctr">
                      <a:solidFill>
                        <a:srgbClr val="262D36"/>
                      </a:solidFill>
                      <a:prstDash val="solid"/>
                      <a:round/>
                      <a:headEnd type="none" w="med" len="med"/>
                      <a:tailEnd type="none" w="med" len="med"/>
                    </a:lnB>
                    <a:solidFill>
                      <a:srgbClr val="171D27"/>
                    </a:solidFill>
                  </a:tcPr>
                </a:tc>
              </a:tr>
              <a:tr h="566928">
                <a:tc>
                  <a:txBody>
                    <a:bodyPr/>
                    <a:lstStyle/>
                    <a:p>
                      <a:pPr indent="0" marL="0">
                        <a:buNone/>
                      </a:pPr>
                      <a:r>
                        <a:rPr lang="en-US" sz="1200" b="1" dirty="0">
                          <a:solidFill>
                            <a:srgbClr val="F5A623"/>
                          </a:solidFill>
                          <a:latin typeface="Calibri" pitchFamily="34" charset="0"/>
                          <a:ea typeface="Calibri" pitchFamily="34" charset="-122"/>
                          <a:cs typeface="Calibri" pitchFamily="34" charset="-120"/>
                        </a:rPr>
                        <a:t>Jev</a:t>
                      </a:r>
                      <a:endParaRPr lang="en-US" sz="1200" dirty="0">
                        <a:latin typeface="Calibri" charset="0"/>
                        <a:ea typeface="Calibri" charset="0"/>
                        <a:cs typeface="Calibri" charset="0"/>
                      </a:endParaRPr>
                    </a:p>
                  </a:txBody>
                  <a:tcPr marL="101600" marR="101600" marT="101600" marB="101600" anchor="ctr">
                    <a:lnL w="12700" cap="flat" cmpd="sng" algn="ctr">
                      <a:solidFill>
                        <a:srgbClr val="262D36"/>
                      </a:solidFill>
                      <a:prstDash val="solid"/>
                      <a:round/>
                      <a:headEnd type="none" w="med" len="med"/>
                      <a:tailEnd type="none" w="med" len="med"/>
                    </a:lnL>
                    <a:lnR w="12700" cap="flat" cmpd="sng" algn="ctr">
                      <a:solidFill>
                        <a:srgbClr val="262D36"/>
                      </a:solidFill>
                      <a:prstDash val="solid"/>
                      <a:round/>
                      <a:headEnd type="none" w="med" len="med"/>
                      <a:tailEnd type="none" w="med" len="med"/>
                    </a:lnR>
                    <a:lnT w="12700" cap="flat" cmpd="sng" algn="ctr">
                      <a:solidFill>
                        <a:srgbClr val="262D36"/>
                      </a:solidFill>
                      <a:prstDash val="solid"/>
                      <a:round/>
                      <a:headEnd type="none" w="med" len="med"/>
                      <a:tailEnd type="none" w="med" len="med"/>
                    </a:lnT>
                    <a:lnB w="12700" cap="flat" cmpd="sng" algn="ctr">
                      <a:solidFill>
                        <a:srgbClr val="262D36"/>
                      </a:solidFill>
                      <a:prstDash val="solid"/>
                      <a:round/>
                      <a:headEnd type="none" w="med" len="med"/>
                      <a:tailEnd type="none" w="med" len="med"/>
                    </a:lnB>
                    <a:solidFill>
                      <a:srgbClr val="171D27"/>
                    </a:solidFill>
                  </a:tcPr>
                </a:tc>
                <a:tc>
                  <a:txBody>
                    <a:bodyPr/>
                    <a:lstStyle/>
                    <a:p>
                      <a:pPr indent="0" marL="0">
                        <a:buNone/>
                      </a:pPr>
                      <a:r>
                        <a:rPr lang="en-US" sz="1200" dirty="0">
                          <a:solidFill>
                            <a:srgbClr val="E6EDF3"/>
                          </a:solidFill>
                          <a:latin typeface="Calibri" pitchFamily="34" charset="0"/>
                          <a:ea typeface="Calibri" pitchFamily="34" charset="-122"/>
                          <a:cs typeface="Calibri" pitchFamily="34" charset="-120"/>
                        </a:rPr>
                        <a:t>Barge-in, turn-taking and routing, as typed probabilities over one shared state</a:t>
                      </a:r>
                      <a:endParaRPr lang="en-US" sz="1200" dirty="0">
                        <a:latin typeface="Calibri" charset="0"/>
                        <a:ea typeface="Calibri" charset="0"/>
                        <a:cs typeface="Calibri" charset="0"/>
                      </a:endParaRPr>
                    </a:p>
                  </a:txBody>
                  <a:tcPr marL="101600" marR="101600" marT="101600" marB="101600" anchor="ctr">
                    <a:lnL w="12700" cap="flat" cmpd="sng" algn="ctr">
                      <a:solidFill>
                        <a:srgbClr val="262D36"/>
                      </a:solidFill>
                      <a:prstDash val="solid"/>
                      <a:round/>
                      <a:headEnd type="none" w="med" len="med"/>
                      <a:tailEnd type="none" w="med" len="med"/>
                    </a:lnL>
                    <a:lnR w="12700" cap="flat" cmpd="sng" algn="ctr">
                      <a:solidFill>
                        <a:srgbClr val="262D36"/>
                      </a:solidFill>
                      <a:prstDash val="solid"/>
                      <a:round/>
                      <a:headEnd type="none" w="med" len="med"/>
                      <a:tailEnd type="none" w="med" len="med"/>
                    </a:lnR>
                    <a:lnT w="12700" cap="flat" cmpd="sng" algn="ctr">
                      <a:solidFill>
                        <a:srgbClr val="262D36"/>
                      </a:solidFill>
                      <a:prstDash val="solid"/>
                      <a:round/>
                      <a:headEnd type="none" w="med" len="med"/>
                      <a:tailEnd type="none" w="med" len="med"/>
                    </a:lnT>
                    <a:lnB w="12700" cap="flat" cmpd="sng" algn="ctr">
                      <a:solidFill>
                        <a:srgbClr val="262D36"/>
                      </a:solidFill>
                      <a:prstDash val="solid"/>
                      <a:round/>
                      <a:headEnd type="none" w="med" len="med"/>
                      <a:tailEnd type="none" w="med" len="med"/>
                    </a:lnB>
                    <a:solidFill>
                      <a:srgbClr val="171D27"/>
                    </a:solidFill>
                  </a:tcPr>
                </a:tc>
                <a:tc>
                  <a:txBody>
                    <a:bodyPr/>
                    <a:lstStyle/>
                    <a:p>
                      <a:pPr indent="0" marL="0">
                        <a:buNone/>
                      </a:pPr>
                      <a:r>
                        <a:rPr lang="en-US" sz="1200" dirty="0">
                          <a:solidFill>
                            <a:srgbClr val="E6EDF3"/>
                          </a:solidFill>
                          <a:latin typeface="Calibri" pitchFamily="34" charset="0"/>
                          <a:ea typeface="Calibri" pitchFamily="34" charset="-122"/>
                          <a:cs typeface="Calibri" pitchFamily="34" charset="-120"/>
                        </a:rPr>
                        <a:t>Deterministic rules take over: silence timers, word counts, punctuation</a:t>
                      </a:r>
                      <a:endParaRPr lang="en-US" sz="1200" dirty="0">
                        <a:latin typeface="Calibri" charset="0"/>
                        <a:ea typeface="Calibri" charset="0"/>
                        <a:cs typeface="Calibri" charset="0"/>
                      </a:endParaRPr>
                    </a:p>
                  </a:txBody>
                  <a:tcPr marL="101600" marR="101600" marT="101600" marB="101600" anchor="ctr">
                    <a:lnL w="12700" cap="flat" cmpd="sng" algn="ctr">
                      <a:solidFill>
                        <a:srgbClr val="262D36"/>
                      </a:solidFill>
                      <a:prstDash val="solid"/>
                      <a:round/>
                      <a:headEnd type="none" w="med" len="med"/>
                      <a:tailEnd type="none" w="med" len="med"/>
                    </a:lnL>
                    <a:lnR w="12700" cap="flat" cmpd="sng" algn="ctr">
                      <a:solidFill>
                        <a:srgbClr val="262D36"/>
                      </a:solidFill>
                      <a:prstDash val="solid"/>
                      <a:round/>
                      <a:headEnd type="none" w="med" len="med"/>
                      <a:tailEnd type="none" w="med" len="med"/>
                    </a:lnR>
                    <a:lnT w="12700" cap="flat" cmpd="sng" algn="ctr">
                      <a:solidFill>
                        <a:srgbClr val="262D36"/>
                      </a:solidFill>
                      <a:prstDash val="solid"/>
                      <a:round/>
                      <a:headEnd type="none" w="med" len="med"/>
                      <a:tailEnd type="none" w="med" len="med"/>
                    </a:lnT>
                    <a:lnB w="12700" cap="flat" cmpd="sng" algn="ctr">
                      <a:solidFill>
                        <a:srgbClr val="262D36"/>
                      </a:solidFill>
                      <a:prstDash val="solid"/>
                      <a:round/>
                      <a:headEnd type="none" w="med" len="med"/>
                      <a:tailEnd type="none" w="med" len="med"/>
                    </a:lnB>
                    <a:solidFill>
                      <a:srgbClr val="171D27"/>
                    </a:solidFill>
                  </a:tcPr>
                </a:tc>
              </a:tr>
              <a:tr h="566928">
                <a:tc>
                  <a:txBody>
                    <a:bodyPr/>
                    <a:lstStyle/>
                    <a:p>
                      <a:pPr indent="0" marL="0">
                        <a:buNone/>
                      </a:pPr>
                      <a:r>
                        <a:rPr lang="en-US" sz="1200" b="1" dirty="0">
                          <a:solidFill>
                            <a:srgbClr val="37D67A"/>
                          </a:solidFill>
                          <a:latin typeface="Calibri" pitchFamily="34" charset="0"/>
                          <a:ea typeface="Calibri" pitchFamily="34" charset="-122"/>
                          <a:cs typeface="Calibri" pitchFamily="34" charset="-120"/>
                        </a:rPr>
                        <a:t>Vision</a:t>
                      </a:r>
                      <a:endParaRPr lang="en-US" sz="1200" dirty="0">
                        <a:latin typeface="Calibri" charset="0"/>
                        <a:ea typeface="Calibri" charset="0"/>
                        <a:cs typeface="Calibri" charset="0"/>
                      </a:endParaRPr>
                    </a:p>
                  </a:txBody>
                  <a:tcPr marL="101600" marR="101600" marT="101600" marB="101600" anchor="ctr">
                    <a:lnL w="12700" cap="flat" cmpd="sng" algn="ctr">
                      <a:solidFill>
                        <a:srgbClr val="262D36"/>
                      </a:solidFill>
                      <a:prstDash val="solid"/>
                      <a:round/>
                      <a:headEnd type="none" w="med" len="med"/>
                      <a:tailEnd type="none" w="med" len="med"/>
                    </a:lnL>
                    <a:lnR w="12700" cap="flat" cmpd="sng" algn="ctr">
                      <a:solidFill>
                        <a:srgbClr val="262D36"/>
                      </a:solidFill>
                      <a:prstDash val="solid"/>
                      <a:round/>
                      <a:headEnd type="none" w="med" len="med"/>
                      <a:tailEnd type="none" w="med" len="med"/>
                    </a:lnR>
                    <a:lnT w="12700" cap="flat" cmpd="sng" algn="ctr">
                      <a:solidFill>
                        <a:srgbClr val="262D36"/>
                      </a:solidFill>
                      <a:prstDash val="solid"/>
                      <a:round/>
                      <a:headEnd type="none" w="med" len="med"/>
                      <a:tailEnd type="none" w="med" len="med"/>
                    </a:lnT>
                    <a:lnB w="12700" cap="flat" cmpd="sng" algn="ctr">
                      <a:solidFill>
                        <a:srgbClr val="262D36"/>
                      </a:solidFill>
                      <a:prstDash val="solid"/>
                      <a:round/>
                      <a:headEnd type="none" w="med" len="med"/>
                      <a:tailEnd type="none" w="med" len="med"/>
                    </a:lnB>
                    <a:solidFill>
                      <a:srgbClr val="171D27"/>
                    </a:solidFill>
                  </a:tcPr>
                </a:tc>
                <a:tc>
                  <a:txBody>
                    <a:bodyPr/>
                    <a:lstStyle/>
                    <a:p>
                      <a:pPr indent="0" marL="0">
                        <a:buNone/>
                      </a:pPr>
                      <a:r>
                        <a:rPr lang="en-US" sz="1200" dirty="0">
                          <a:solidFill>
                            <a:srgbClr val="E6EDF3"/>
                          </a:solidFill>
                          <a:latin typeface="Calibri" pitchFamily="34" charset="0"/>
                          <a:ea typeface="Calibri" pitchFamily="34" charset="-122"/>
                          <a:cs typeface="Calibri" pitchFamily="34" charset="-120"/>
                        </a:rPr>
                        <a:t>Face mesh and gaze per person; sends numbers only, at ~10 Hz</a:t>
                      </a:r>
                      <a:endParaRPr lang="en-US" sz="1200" dirty="0">
                        <a:latin typeface="Calibri" charset="0"/>
                        <a:ea typeface="Calibri" charset="0"/>
                        <a:cs typeface="Calibri" charset="0"/>
                      </a:endParaRPr>
                    </a:p>
                  </a:txBody>
                  <a:tcPr marL="101600" marR="101600" marT="101600" marB="101600" anchor="ctr">
                    <a:lnL w="12700" cap="flat" cmpd="sng" algn="ctr">
                      <a:solidFill>
                        <a:srgbClr val="262D36"/>
                      </a:solidFill>
                      <a:prstDash val="solid"/>
                      <a:round/>
                      <a:headEnd type="none" w="med" len="med"/>
                      <a:tailEnd type="none" w="med" len="med"/>
                    </a:lnL>
                    <a:lnR w="12700" cap="flat" cmpd="sng" algn="ctr">
                      <a:solidFill>
                        <a:srgbClr val="262D36"/>
                      </a:solidFill>
                      <a:prstDash val="solid"/>
                      <a:round/>
                      <a:headEnd type="none" w="med" len="med"/>
                      <a:tailEnd type="none" w="med" len="med"/>
                    </a:lnR>
                    <a:lnT w="12700" cap="flat" cmpd="sng" algn="ctr">
                      <a:solidFill>
                        <a:srgbClr val="262D36"/>
                      </a:solidFill>
                      <a:prstDash val="solid"/>
                      <a:round/>
                      <a:headEnd type="none" w="med" len="med"/>
                      <a:tailEnd type="none" w="med" len="med"/>
                    </a:lnT>
                    <a:lnB w="12700" cap="flat" cmpd="sng" algn="ctr">
                      <a:solidFill>
                        <a:srgbClr val="262D36"/>
                      </a:solidFill>
                      <a:prstDash val="solid"/>
                      <a:round/>
                      <a:headEnd type="none" w="med" len="med"/>
                      <a:tailEnd type="none" w="med" len="med"/>
                    </a:lnB>
                    <a:solidFill>
                      <a:srgbClr val="171D27"/>
                    </a:solidFill>
                  </a:tcPr>
                </a:tc>
                <a:tc>
                  <a:txBody>
                    <a:bodyPr/>
                    <a:lstStyle/>
                    <a:p>
                      <a:pPr indent="0" marL="0">
                        <a:buNone/>
                      </a:pPr>
                      <a:r>
                        <a:rPr lang="en-US" sz="1200" dirty="0">
                          <a:solidFill>
                            <a:srgbClr val="E6EDF3"/>
                          </a:solidFill>
                          <a:latin typeface="Calibri" pitchFamily="34" charset="0"/>
                          <a:ea typeface="Calibri" pitchFamily="34" charset="-122"/>
                          <a:cs typeface="Calibri" pitchFamily="34" charset="-120"/>
                        </a:rPr>
                        <a:t>Gaze gating switches off — not knowing is no reason to ignore someone</a:t>
                      </a:r>
                      <a:endParaRPr lang="en-US" sz="1200" dirty="0">
                        <a:latin typeface="Calibri" charset="0"/>
                        <a:ea typeface="Calibri" charset="0"/>
                        <a:cs typeface="Calibri" charset="0"/>
                      </a:endParaRPr>
                    </a:p>
                  </a:txBody>
                  <a:tcPr marL="101600" marR="101600" marT="101600" marB="101600" anchor="ctr">
                    <a:lnL w="12700" cap="flat" cmpd="sng" algn="ctr">
                      <a:solidFill>
                        <a:srgbClr val="262D36"/>
                      </a:solidFill>
                      <a:prstDash val="solid"/>
                      <a:round/>
                      <a:headEnd type="none" w="med" len="med"/>
                      <a:tailEnd type="none" w="med" len="med"/>
                    </a:lnL>
                    <a:lnR w="12700" cap="flat" cmpd="sng" algn="ctr">
                      <a:solidFill>
                        <a:srgbClr val="262D36"/>
                      </a:solidFill>
                      <a:prstDash val="solid"/>
                      <a:round/>
                      <a:headEnd type="none" w="med" len="med"/>
                      <a:tailEnd type="none" w="med" len="med"/>
                    </a:lnR>
                    <a:lnT w="12700" cap="flat" cmpd="sng" algn="ctr">
                      <a:solidFill>
                        <a:srgbClr val="262D36"/>
                      </a:solidFill>
                      <a:prstDash val="solid"/>
                      <a:round/>
                      <a:headEnd type="none" w="med" len="med"/>
                      <a:tailEnd type="none" w="med" len="med"/>
                    </a:lnT>
                    <a:lnB w="12700" cap="flat" cmpd="sng" algn="ctr">
                      <a:solidFill>
                        <a:srgbClr val="262D36"/>
                      </a:solidFill>
                      <a:prstDash val="solid"/>
                      <a:round/>
                      <a:headEnd type="none" w="med" len="med"/>
                      <a:tailEnd type="none" w="med" len="med"/>
                    </a:lnB>
                    <a:solidFill>
                      <a:srgbClr val="171D27"/>
                    </a:solidFill>
                  </a:tcPr>
                </a:tc>
              </a:tr>
              <a:tr h="502920">
                <a:tc>
                  <a:txBody>
                    <a:bodyPr/>
                    <a:lstStyle/>
                    <a:p>
                      <a:pPr indent="0" marL="0">
                        <a:buNone/>
                      </a:pPr>
                      <a:r>
                        <a:rPr lang="en-US" sz="1200" b="1" dirty="0">
                          <a:solidFill>
                            <a:srgbClr val="37D67A"/>
                          </a:solidFill>
                          <a:latin typeface="Calibri" pitchFamily="34" charset="0"/>
                          <a:ea typeface="Calibri" pitchFamily="34" charset="-122"/>
                          <a:cs typeface="Calibri" pitchFamily="34" charset="-120"/>
                        </a:rPr>
                        <a:t>Speaker ID</a:t>
                      </a:r>
                      <a:endParaRPr lang="en-US" sz="1200" dirty="0">
                        <a:latin typeface="Calibri" charset="0"/>
                        <a:ea typeface="Calibri" charset="0"/>
                        <a:cs typeface="Calibri" charset="0"/>
                      </a:endParaRPr>
                    </a:p>
                  </a:txBody>
                  <a:tcPr marL="101600" marR="101600" marT="101600" marB="101600" anchor="ctr">
                    <a:lnL w="12700" cap="flat" cmpd="sng" algn="ctr">
                      <a:solidFill>
                        <a:srgbClr val="262D36"/>
                      </a:solidFill>
                      <a:prstDash val="solid"/>
                      <a:round/>
                      <a:headEnd type="none" w="med" len="med"/>
                      <a:tailEnd type="none" w="med" len="med"/>
                    </a:lnL>
                    <a:lnR w="12700" cap="flat" cmpd="sng" algn="ctr">
                      <a:solidFill>
                        <a:srgbClr val="262D36"/>
                      </a:solidFill>
                      <a:prstDash val="solid"/>
                      <a:round/>
                      <a:headEnd type="none" w="med" len="med"/>
                      <a:tailEnd type="none" w="med" len="med"/>
                    </a:lnR>
                    <a:lnT w="12700" cap="flat" cmpd="sng" algn="ctr">
                      <a:solidFill>
                        <a:srgbClr val="262D36"/>
                      </a:solidFill>
                      <a:prstDash val="solid"/>
                      <a:round/>
                      <a:headEnd type="none" w="med" len="med"/>
                      <a:tailEnd type="none" w="med" len="med"/>
                    </a:lnT>
                    <a:lnB w="12700" cap="flat" cmpd="sng" algn="ctr">
                      <a:solidFill>
                        <a:srgbClr val="262D36"/>
                      </a:solidFill>
                      <a:prstDash val="solid"/>
                      <a:round/>
                      <a:headEnd type="none" w="med" len="med"/>
                      <a:tailEnd type="none" w="med" len="med"/>
                    </a:lnB>
                    <a:solidFill>
                      <a:srgbClr val="171D27"/>
                    </a:solidFill>
                  </a:tcPr>
                </a:tc>
                <a:tc>
                  <a:txBody>
                    <a:bodyPr/>
                    <a:lstStyle/>
                    <a:p>
                      <a:pPr indent="0" marL="0">
                        <a:buNone/>
                      </a:pPr>
                      <a:r>
                        <a:rPr lang="en-US" sz="1200" dirty="0">
                          <a:solidFill>
                            <a:srgbClr val="E6EDF3"/>
                          </a:solidFill>
                          <a:latin typeface="Calibri" pitchFamily="34" charset="0"/>
                          <a:ea typeface="Calibri" pitchFamily="34" charset="-122"/>
                          <a:cs typeface="Calibri" pitchFamily="34" charset="-120"/>
                        </a:rPr>
                        <a:t>ECAPA voiceprints, capped at 3, so the agent knows who is talking</a:t>
                      </a:r>
                      <a:endParaRPr lang="en-US" sz="1200" dirty="0">
                        <a:latin typeface="Calibri" charset="0"/>
                        <a:ea typeface="Calibri" charset="0"/>
                        <a:cs typeface="Calibri" charset="0"/>
                      </a:endParaRPr>
                    </a:p>
                  </a:txBody>
                  <a:tcPr marL="101600" marR="101600" marT="101600" marB="101600" anchor="ctr">
                    <a:lnL w="12700" cap="flat" cmpd="sng" algn="ctr">
                      <a:solidFill>
                        <a:srgbClr val="262D36"/>
                      </a:solidFill>
                      <a:prstDash val="solid"/>
                      <a:round/>
                      <a:headEnd type="none" w="med" len="med"/>
                      <a:tailEnd type="none" w="med" len="med"/>
                    </a:lnL>
                    <a:lnR w="12700" cap="flat" cmpd="sng" algn="ctr">
                      <a:solidFill>
                        <a:srgbClr val="262D36"/>
                      </a:solidFill>
                      <a:prstDash val="solid"/>
                      <a:round/>
                      <a:headEnd type="none" w="med" len="med"/>
                      <a:tailEnd type="none" w="med" len="med"/>
                    </a:lnR>
                    <a:lnT w="12700" cap="flat" cmpd="sng" algn="ctr">
                      <a:solidFill>
                        <a:srgbClr val="262D36"/>
                      </a:solidFill>
                      <a:prstDash val="solid"/>
                      <a:round/>
                      <a:headEnd type="none" w="med" len="med"/>
                      <a:tailEnd type="none" w="med" len="med"/>
                    </a:lnT>
                    <a:lnB w="12700" cap="flat" cmpd="sng" algn="ctr">
                      <a:solidFill>
                        <a:srgbClr val="262D36"/>
                      </a:solidFill>
                      <a:prstDash val="solid"/>
                      <a:round/>
                      <a:headEnd type="none" w="med" len="med"/>
                      <a:tailEnd type="none" w="med" len="med"/>
                    </a:lnB>
                    <a:solidFill>
                      <a:srgbClr val="171D27"/>
                    </a:solidFill>
                  </a:tcPr>
                </a:tc>
                <a:tc>
                  <a:txBody>
                    <a:bodyPr/>
                    <a:lstStyle/>
                    <a:p>
                      <a:pPr indent="0" marL="0">
                        <a:buNone/>
                      </a:pPr>
                      <a:r>
                        <a:rPr lang="en-US" sz="1200" dirty="0">
                          <a:solidFill>
                            <a:srgbClr val="E6EDF3"/>
                          </a:solidFill>
                          <a:latin typeface="Calibri" pitchFamily="34" charset="0"/>
                          <a:ea typeface="Calibri" pitchFamily="34" charset="-122"/>
                          <a:cs typeface="Calibri" pitchFamily="34" charset="-120"/>
                        </a:rPr>
                        <a:t>Everyone is one anonymous speaker; names stop binding</a:t>
                      </a:r>
                      <a:endParaRPr lang="en-US" sz="1200" dirty="0">
                        <a:latin typeface="Calibri" charset="0"/>
                        <a:ea typeface="Calibri" charset="0"/>
                        <a:cs typeface="Calibri" charset="0"/>
                      </a:endParaRPr>
                    </a:p>
                  </a:txBody>
                  <a:tcPr marL="101600" marR="101600" marT="101600" marB="101600" anchor="ctr">
                    <a:lnL w="12700" cap="flat" cmpd="sng" algn="ctr">
                      <a:solidFill>
                        <a:srgbClr val="262D36"/>
                      </a:solidFill>
                      <a:prstDash val="solid"/>
                      <a:round/>
                      <a:headEnd type="none" w="med" len="med"/>
                      <a:tailEnd type="none" w="med" len="med"/>
                    </a:lnL>
                    <a:lnR w="12700" cap="flat" cmpd="sng" algn="ctr">
                      <a:solidFill>
                        <a:srgbClr val="262D36"/>
                      </a:solidFill>
                      <a:prstDash val="solid"/>
                      <a:round/>
                      <a:headEnd type="none" w="med" len="med"/>
                      <a:tailEnd type="none" w="med" len="med"/>
                    </a:lnR>
                    <a:lnT w="12700" cap="flat" cmpd="sng" algn="ctr">
                      <a:solidFill>
                        <a:srgbClr val="262D36"/>
                      </a:solidFill>
                      <a:prstDash val="solid"/>
                      <a:round/>
                      <a:headEnd type="none" w="med" len="med"/>
                      <a:tailEnd type="none" w="med" len="med"/>
                    </a:lnT>
                    <a:lnB w="12700" cap="flat" cmpd="sng" algn="ctr">
                      <a:solidFill>
                        <a:srgbClr val="262D36"/>
                      </a:solidFill>
                      <a:prstDash val="solid"/>
                      <a:round/>
                      <a:headEnd type="none" w="med" len="med"/>
                      <a:tailEnd type="none" w="med" len="med"/>
                    </a:lnB>
                    <a:solidFill>
                      <a:srgbClr val="171D27"/>
                    </a:solidFill>
                  </a:tcPr>
                </a:tc>
              </a:tr>
              <a:tr h="502920">
                <a:tc>
                  <a:txBody>
                    <a:bodyPr/>
                    <a:lstStyle/>
                    <a:p>
                      <a:pPr indent="0" marL="0">
                        <a:buNone/>
                      </a:pPr>
                      <a:r>
                        <a:rPr lang="en-US" sz="1200" b="1" dirty="0">
                          <a:solidFill>
                            <a:srgbClr val="2F81F7"/>
                          </a:solidFill>
                          <a:latin typeface="Calibri" pitchFamily="34" charset="0"/>
                          <a:ea typeface="Calibri" pitchFamily="34" charset="-122"/>
                          <a:cs typeface="Calibri" pitchFamily="34" charset="-120"/>
                        </a:rPr>
                        <a:t>Memory</a:t>
                      </a:r>
                      <a:endParaRPr lang="en-US" sz="1200" dirty="0">
                        <a:latin typeface="Calibri" charset="0"/>
                        <a:ea typeface="Calibri" charset="0"/>
                        <a:cs typeface="Calibri" charset="0"/>
                      </a:endParaRPr>
                    </a:p>
                  </a:txBody>
                  <a:tcPr marL="101600" marR="101600" marT="101600" marB="101600" anchor="ctr">
                    <a:lnL w="12700" cap="flat" cmpd="sng" algn="ctr">
                      <a:solidFill>
                        <a:srgbClr val="262D36"/>
                      </a:solidFill>
                      <a:prstDash val="solid"/>
                      <a:round/>
                      <a:headEnd type="none" w="med" len="med"/>
                      <a:tailEnd type="none" w="med" len="med"/>
                    </a:lnL>
                    <a:lnR w="12700" cap="flat" cmpd="sng" algn="ctr">
                      <a:solidFill>
                        <a:srgbClr val="262D36"/>
                      </a:solidFill>
                      <a:prstDash val="solid"/>
                      <a:round/>
                      <a:headEnd type="none" w="med" len="med"/>
                      <a:tailEnd type="none" w="med" len="med"/>
                    </a:lnR>
                    <a:lnT w="12700" cap="flat" cmpd="sng" algn="ctr">
                      <a:solidFill>
                        <a:srgbClr val="262D36"/>
                      </a:solidFill>
                      <a:prstDash val="solid"/>
                      <a:round/>
                      <a:headEnd type="none" w="med" len="med"/>
                      <a:tailEnd type="none" w="med" len="med"/>
                    </a:lnT>
                    <a:lnB w="12700" cap="flat" cmpd="sng" algn="ctr">
                      <a:solidFill>
                        <a:srgbClr val="262D36"/>
                      </a:solidFill>
                      <a:prstDash val="solid"/>
                      <a:round/>
                      <a:headEnd type="none" w="med" len="med"/>
                      <a:tailEnd type="none" w="med" len="med"/>
                    </a:lnB>
                    <a:solidFill>
                      <a:srgbClr val="171D27"/>
                    </a:solidFill>
                  </a:tcPr>
                </a:tc>
                <a:tc>
                  <a:txBody>
                    <a:bodyPr/>
                    <a:lstStyle/>
                    <a:p>
                      <a:pPr indent="0" marL="0">
                        <a:buNone/>
                      </a:pPr>
                      <a:r>
                        <a:rPr lang="en-US" sz="1200" dirty="0">
                          <a:solidFill>
                            <a:srgbClr val="E6EDF3"/>
                          </a:solidFill>
                          <a:latin typeface="Calibri" pitchFamily="34" charset="0"/>
                          <a:ea typeface="Calibri" pitchFamily="34" charset="-122"/>
                          <a:cs typeface="Calibri" pitchFamily="34" charset="-120"/>
                        </a:rPr>
                        <a:t>Names learned from context, facts per person, a rolling summary in the prompt</a:t>
                      </a:r>
                      <a:endParaRPr lang="en-US" sz="1200" dirty="0">
                        <a:latin typeface="Calibri" charset="0"/>
                        <a:ea typeface="Calibri" charset="0"/>
                        <a:cs typeface="Calibri" charset="0"/>
                      </a:endParaRPr>
                    </a:p>
                  </a:txBody>
                  <a:tcPr marL="101600" marR="101600" marT="101600" marB="101600" anchor="ctr">
                    <a:lnL w="12700" cap="flat" cmpd="sng" algn="ctr">
                      <a:solidFill>
                        <a:srgbClr val="262D36"/>
                      </a:solidFill>
                      <a:prstDash val="solid"/>
                      <a:round/>
                      <a:headEnd type="none" w="med" len="med"/>
                      <a:tailEnd type="none" w="med" len="med"/>
                    </a:lnL>
                    <a:lnR w="12700" cap="flat" cmpd="sng" algn="ctr">
                      <a:solidFill>
                        <a:srgbClr val="262D36"/>
                      </a:solidFill>
                      <a:prstDash val="solid"/>
                      <a:round/>
                      <a:headEnd type="none" w="med" len="med"/>
                      <a:tailEnd type="none" w="med" len="med"/>
                    </a:lnR>
                    <a:lnT w="12700" cap="flat" cmpd="sng" algn="ctr">
                      <a:solidFill>
                        <a:srgbClr val="262D36"/>
                      </a:solidFill>
                      <a:prstDash val="solid"/>
                      <a:round/>
                      <a:headEnd type="none" w="med" len="med"/>
                      <a:tailEnd type="none" w="med" len="med"/>
                    </a:lnT>
                    <a:lnB w="12700" cap="flat" cmpd="sng" algn="ctr">
                      <a:solidFill>
                        <a:srgbClr val="262D36"/>
                      </a:solidFill>
                      <a:prstDash val="solid"/>
                      <a:round/>
                      <a:headEnd type="none" w="med" len="med"/>
                      <a:tailEnd type="none" w="med" len="med"/>
                    </a:lnB>
                    <a:solidFill>
                      <a:srgbClr val="171D27"/>
                    </a:solidFill>
                  </a:tcPr>
                </a:tc>
                <a:tc>
                  <a:txBody>
                    <a:bodyPr/>
                    <a:lstStyle/>
                    <a:p>
                      <a:pPr indent="0" marL="0">
                        <a:buNone/>
                      </a:pPr>
                      <a:r>
                        <a:rPr lang="en-US" sz="1200" dirty="0">
                          <a:solidFill>
                            <a:srgbClr val="E6EDF3"/>
                          </a:solidFill>
                          <a:latin typeface="Calibri" pitchFamily="34" charset="0"/>
                          <a:ea typeface="Calibri" pitchFamily="34" charset="-122"/>
                          <a:cs typeface="Calibri" pitchFamily="34" charset="-120"/>
                        </a:rPr>
                        <a:t>Each session starts a stranger</a:t>
                      </a:r>
                      <a:endParaRPr lang="en-US" sz="1200" dirty="0">
                        <a:latin typeface="Calibri" charset="0"/>
                        <a:ea typeface="Calibri" charset="0"/>
                        <a:cs typeface="Calibri" charset="0"/>
                      </a:endParaRPr>
                    </a:p>
                  </a:txBody>
                  <a:tcPr marL="101600" marR="101600" marT="101600" marB="101600" anchor="ctr">
                    <a:lnL w="12700" cap="flat" cmpd="sng" algn="ctr">
                      <a:solidFill>
                        <a:srgbClr val="262D36"/>
                      </a:solidFill>
                      <a:prstDash val="solid"/>
                      <a:round/>
                      <a:headEnd type="none" w="med" len="med"/>
                      <a:tailEnd type="none" w="med" len="med"/>
                    </a:lnL>
                    <a:lnR w="12700" cap="flat" cmpd="sng" algn="ctr">
                      <a:solidFill>
                        <a:srgbClr val="262D36"/>
                      </a:solidFill>
                      <a:prstDash val="solid"/>
                      <a:round/>
                      <a:headEnd type="none" w="med" len="med"/>
                      <a:tailEnd type="none" w="med" len="med"/>
                    </a:lnR>
                    <a:lnT w="12700" cap="flat" cmpd="sng" algn="ctr">
                      <a:solidFill>
                        <a:srgbClr val="262D36"/>
                      </a:solidFill>
                      <a:prstDash val="solid"/>
                      <a:round/>
                      <a:headEnd type="none" w="med" len="med"/>
                      <a:tailEnd type="none" w="med" len="med"/>
                    </a:lnT>
                    <a:lnB w="12700" cap="flat" cmpd="sng" algn="ctr">
                      <a:solidFill>
                        <a:srgbClr val="262D36"/>
                      </a:solidFill>
                      <a:prstDash val="solid"/>
                      <a:round/>
                      <a:headEnd type="none" w="med" len="med"/>
                      <a:tailEnd type="none" w="med" len="med"/>
                    </a:lnB>
                    <a:solidFill>
                      <a:srgbClr val="171D27"/>
                    </a:solidFill>
                  </a:tcPr>
                </a:tc>
              </a:tr>
              <a:tr h="502920">
                <a:tc>
                  <a:txBody>
                    <a:bodyPr/>
                    <a:lstStyle/>
                    <a:p>
                      <a:pPr indent="0" marL="0">
                        <a:buNone/>
                      </a:pPr>
                      <a:r>
                        <a:rPr lang="en-US" sz="1200" b="1" dirty="0">
                          <a:solidFill>
                            <a:srgbClr val="A371F7"/>
                          </a:solidFill>
                          <a:latin typeface="Calibri" pitchFamily="34" charset="0"/>
                          <a:ea typeface="Calibri" pitchFamily="34" charset="-122"/>
                          <a:cs typeface="Calibri" pitchFamily="34" charset="-120"/>
                        </a:rPr>
                        <a:t>Background agents</a:t>
                      </a:r>
                      <a:endParaRPr lang="en-US" sz="1200" dirty="0">
                        <a:latin typeface="Calibri" charset="0"/>
                        <a:ea typeface="Calibri" charset="0"/>
                        <a:cs typeface="Calibri" charset="0"/>
                      </a:endParaRPr>
                    </a:p>
                  </a:txBody>
                  <a:tcPr marL="101600" marR="101600" marT="101600" marB="101600" anchor="ctr">
                    <a:lnL w="12700" cap="flat" cmpd="sng" algn="ctr">
                      <a:solidFill>
                        <a:srgbClr val="262D36"/>
                      </a:solidFill>
                      <a:prstDash val="solid"/>
                      <a:round/>
                      <a:headEnd type="none" w="med" len="med"/>
                      <a:tailEnd type="none" w="med" len="med"/>
                    </a:lnL>
                    <a:lnR w="12700" cap="flat" cmpd="sng" algn="ctr">
                      <a:solidFill>
                        <a:srgbClr val="262D36"/>
                      </a:solidFill>
                      <a:prstDash val="solid"/>
                      <a:round/>
                      <a:headEnd type="none" w="med" len="med"/>
                      <a:tailEnd type="none" w="med" len="med"/>
                    </a:lnR>
                    <a:lnT w="12700" cap="flat" cmpd="sng" algn="ctr">
                      <a:solidFill>
                        <a:srgbClr val="262D36"/>
                      </a:solidFill>
                      <a:prstDash val="solid"/>
                      <a:round/>
                      <a:headEnd type="none" w="med" len="med"/>
                      <a:tailEnd type="none" w="med" len="med"/>
                    </a:lnT>
                    <a:lnB w="12700" cap="flat" cmpd="sng" algn="ctr">
                      <a:solidFill>
                        <a:srgbClr val="262D36"/>
                      </a:solidFill>
                      <a:prstDash val="solid"/>
                      <a:round/>
                      <a:headEnd type="none" w="med" len="med"/>
                      <a:tailEnd type="none" w="med" len="med"/>
                    </a:lnB>
                    <a:solidFill>
                      <a:srgbClr val="171D27"/>
                    </a:solidFill>
                  </a:tcPr>
                </a:tc>
                <a:tc>
                  <a:txBody>
                    <a:bodyPr/>
                    <a:lstStyle/>
                    <a:p>
                      <a:pPr indent="0" marL="0">
                        <a:buNone/>
                      </a:pPr>
                      <a:r>
                        <a:rPr lang="en-US" sz="1200" dirty="0">
                          <a:solidFill>
                            <a:srgbClr val="E6EDF3"/>
                          </a:solidFill>
                          <a:latin typeface="Calibri" pitchFamily="34" charset="0"/>
                          <a:ea typeface="Calibri" pitchFamily="34" charset="-122"/>
                          <a:cs typeface="Calibri" pitchFamily="34" charset="-120"/>
                        </a:rPr>
                        <a:t>Timer, stock, scores, lookup — with a live telemetry panel</a:t>
                      </a:r>
                      <a:endParaRPr lang="en-US" sz="1200" dirty="0">
                        <a:latin typeface="Calibri" charset="0"/>
                        <a:ea typeface="Calibri" charset="0"/>
                        <a:cs typeface="Calibri" charset="0"/>
                      </a:endParaRPr>
                    </a:p>
                  </a:txBody>
                  <a:tcPr marL="101600" marR="101600" marT="101600" marB="101600" anchor="ctr">
                    <a:lnL w="12700" cap="flat" cmpd="sng" algn="ctr">
                      <a:solidFill>
                        <a:srgbClr val="262D36"/>
                      </a:solidFill>
                      <a:prstDash val="solid"/>
                      <a:round/>
                      <a:headEnd type="none" w="med" len="med"/>
                      <a:tailEnd type="none" w="med" len="med"/>
                    </a:lnL>
                    <a:lnR w="12700" cap="flat" cmpd="sng" algn="ctr">
                      <a:solidFill>
                        <a:srgbClr val="262D36"/>
                      </a:solidFill>
                      <a:prstDash val="solid"/>
                      <a:round/>
                      <a:headEnd type="none" w="med" len="med"/>
                      <a:tailEnd type="none" w="med" len="med"/>
                    </a:lnR>
                    <a:lnT w="12700" cap="flat" cmpd="sng" algn="ctr">
                      <a:solidFill>
                        <a:srgbClr val="262D36"/>
                      </a:solidFill>
                      <a:prstDash val="solid"/>
                      <a:round/>
                      <a:headEnd type="none" w="med" len="med"/>
                      <a:tailEnd type="none" w="med" len="med"/>
                    </a:lnT>
                    <a:lnB w="12700" cap="flat" cmpd="sng" algn="ctr">
                      <a:solidFill>
                        <a:srgbClr val="262D36"/>
                      </a:solidFill>
                      <a:prstDash val="solid"/>
                      <a:round/>
                      <a:headEnd type="none" w="med" len="med"/>
                      <a:tailEnd type="none" w="med" len="med"/>
                    </a:lnB>
                    <a:solidFill>
                      <a:srgbClr val="171D27"/>
                    </a:solidFill>
                  </a:tcPr>
                </a:tc>
                <a:tc>
                  <a:txBody>
                    <a:bodyPr/>
                    <a:lstStyle/>
                    <a:p>
                      <a:pPr indent="0" marL="0">
                        <a:buNone/>
                      </a:pPr>
                      <a:r>
                        <a:rPr lang="en-US" sz="1200" dirty="0">
                          <a:solidFill>
                            <a:srgbClr val="E6EDF3"/>
                          </a:solidFill>
                          <a:latin typeface="Calibri" pitchFamily="34" charset="0"/>
                          <a:ea typeface="Calibri" pitchFamily="34" charset="-122"/>
                          <a:cs typeface="Calibri" pitchFamily="34" charset="-120"/>
                        </a:rPr>
                        <a:t>The call stalls for seconds on anything that takes work</a:t>
                      </a:r>
                      <a:endParaRPr lang="en-US" sz="1200" dirty="0">
                        <a:latin typeface="Calibri" charset="0"/>
                        <a:ea typeface="Calibri" charset="0"/>
                        <a:cs typeface="Calibri" charset="0"/>
                      </a:endParaRPr>
                    </a:p>
                  </a:txBody>
                  <a:tcPr marL="101600" marR="101600" marT="101600" marB="101600" anchor="ctr">
                    <a:lnL w="12700" cap="flat" cmpd="sng" algn="ctr">
                      <a:solidFill>
                        <a:srgbClr val="262D36"/>
                      </a:solidFill>
                      <a:prstDash val="solid"/>
                      <a:round/>
                      <a:headEnd type="none" w="med" len="med"/>
                      <a:tailEnd type="none" w="med" len="med"/>
                    </a:lnL>
                    <a:lnR w="12700" cap="flat" cmpd="sng" algn="ctr">
                      <a:solidFill>
                        <a:srgbClr val="262D36"/>
                      </a:solidFill>
                      <a:prstDash val="solid"/>
                      <a:round/>
                      <a:headEnd type="none" w="med" len="med"/>
                      <a:tailEnd type="none" w="med" len="med"/>
                    </a:lnR>
                    <a:lnT w="12700" cap="flat" cmpd="sng" algn="ctr">
                      <a:solidFill>
                        <a:srgbClr val="262D36"/>
                      </a:solidFill>
                      <a:prstDash val="solid"/>
                      <a:round/>
                      <a:headEnd type="none" w="med" len="med"/>
                      <a:tailEnd type="none" w="med" len="med"/>
                    </a:lnT>
                    <a:lnB w="12700" cap="flat" cmpd="sng" algn="ctr">
                      <a:solidFill>
                        <a:srgbClr val="262D36"/>
                      </a:solidFill>
                      <a:prstDash val="solid"/>
                      <a:round/>
                      <a:headEnd type="none" w="med" len="med"/>
                      <a:tailEnd type="none" w="med" len="med"/>
                    </a:lnB>
                    <a:solidFill>
                      <a:srgbClr val="171D27"/>
                    </a:solidFill>
                  </a:tcPr>
                </a:tc>
              </a:tr>
              <a:tr h="457200">
                <a:tc>
                  <a:txBody>
                    <a:bodyPr/>
                    <a:lstStyle/>
                    <a:p>
                      <a:pPr indent="0" marL="0">
                        <a:buNone/>
                      </a:pPr>
                      <a:r>
                        <a:rPr lang="en-US" sz="1200" b="1" dirty="0">
                          <a:solidFill>
                            <a:srgbClr val="2F81F7"/>
                          </a:solidFill>
                          <a:latin typeface="Calibri" pitchFamily="34" charset="0"/>
                          <a:ea typeface="Calibri" pitchFamily="34" charset="-122"/>
                          <a:cs typeface="Calibri" pitchFamily="34" charset="-120"/>
                        </a:rPr>
                        <a:t>Fillers</a:t>
                      </a:r>
                      <a:endParaRPr lang="en-US" sz="1200" dirty="0">
                        <a:latin typeface="Calibri" charset="0"/>
                        <a:ea typeface="Calibri" charset="0"/>
                        <a:cs typeface="Calibri" charset="0"/>
                      </a:endParaRPr>
                    </a:p>
                  </a:txBody>
                  <a:tcPr marL="101600" marR="101600" marT="101600" marB="101600" anchor="ctr">
                    <a:lnL w="12700" cap="flat" cmpd="sng" algn="ctr">
                      <a:solidFill>
                        <a:srgbClr val="262D36"/>
                      </a:solidFill>
                      <a:prstDash val="solid"/>
                      <a:round/>
                      <a:headEnd type="none" w="med" len="med"/>
                      <a:tailEnd type="none" w="med" len="med"/>
                    </a:lnL>
                    <a:lnR w="12700" cap="flat" cmpd="sng" algn="ctr">
                      <a:solidFill>
                        <a:srgbClr val="262D36"/>
                      </a:solidFill>
                      <a:prstDash val="solid"/>
                      <a:round/>
                      <a:headEnd type="none" w="med" len="med"/>
                      <a:tailEnd type="none" w="med" len="med"/>
                    </a:lnR>
                    <a:lnT w="12700" cap="flat" cmpd="sng" algn="ctr">
                      <a:solidFill>
                        <a:srgbClr val="262D36"/>
                      </a:solidFill>
                      <a:prstDash val="solid"/>
                      <a:round/>
                      <a:headEnd type="none" w="med" len="med"/>
                      <a:tailEnd type="none" w="med" len="med"/>
                    </a:lnT>
                    <a:lnB w="12700" cap="flat" cmpd="sng" algn="ctr">
                      <a:solidFill>
                        <a:srgbClr val="262D36"/>
                      </a:solidFill>
                      <a:prstDash val="solid"/>
                      <a:round/>
                      <a:headEnd type="none" w="med" len="med"/>
                      <a:tailEnd type="none" w="med" len="med"/>
                    </a:lnB>
                    <a:solidFill>
                      <a:srgbClr val="171D27"/>
                    </a:solidFill>
                  </a:tcPr>
                </a:tc>
                <a:tc>
                  <a:txBody>
                    <a:bodyPr/>
                    <a:lstStyle/>
                    <a:p>
                      <a:pPr indent="0" marL="0">
                        <a:buNone/>
                      </a:pPr>
                      <a:r>
                        <a:rPr lang="en-US" sz="1200" dirty="0">
                          <a:solidFill>
                            <a:srgbClr val="E6EDF3"/>
                          </a:solidFill>
                          <a:latin typeface="Calibri" pitchFamily="34" charset="0"/>
                          <a:ea typeface="Calibri" pitchFamily="34" charset="-122"/>
                          <a:cs typeface="Calibri" pitchFamily="34" charset="-120"/>
                        </a:rPr>
                        <a:t>49 pre-rendered clips in the bot's own voice, chosen by Jev</a:t>
                      </a:r>
                      <a:endParaRPr lang="en-US" sz="1200" dirty="0">
                        <a:latin typeface="Calibri" charset="0"/>
                        <a:ea typeface="Calibri" charset="0"/>
                        <a:cs typeface="Calibri" charset="0"/>
                      </a:endParaRPr>
                    </a:p>
                  </a:txBody>
                  <a:tcPr marL="101600" marR="101600" marT="101600" marB="101600" anchor="ctr">
                    <a:lnL w="12700" cap="flat" cmpd="sng" algn="ctr">
                      <a:solidFill>
                        <a:srgbClr val="262D36"/>
                      </a:solidFill>
                      <a:prstDash val="solid"/>
                      <a:round/>
                      <a:headEnd type="none" w="med" len="med"/>
                      <a:tailEnd type="none" w="med" len="med"/>
                    </a:lnL>
                    <a:lnR w="12700" cap="flat" cmpd="sng" algn="ctr">
                      <a:solidFill>
                        <a:srgbClr val="262D36"/>
                      </a:solidFill>
                      <a:prstDash val="solid"/>
                      <a:round/>
                      <a:headEnd type="none" w="med" len="med"/>
                      <a:tailEnd type="none" w="med" len="med"/>
                    </a:lnR>
                    <a:lnT w="12700" cap="flat" cmpd="sng" algn="ctr">
                      <a:solidFill>
                        <a:srgbClr val="262D36"/>
                      </a:solidFill>
                      <a:prstDash val="solid"/>
                      <a:round/>
                      <a:headEnd type="none" w="med" len="med"/>
                      <a:tailEnd type="none" w="med" len="med"/>
                    </a:lnT>
                    <a:lnB w="12700" cap="flat" cmpd="sng" algn="ctr">
                      <a:solidFill>
                        <a:srgbClr val="262D36"/>
                      </a:solidFill>
                      <a:prstDash val="solid"/>
                      <a:round/>
                      <a:headEnd type="none" w="med" len="med"/>
                      <a:tailEnd type="none" w="med" len="med"/>
                    </a:lnB>
                    <a:solidFill>
                      <a:srgbClr val="171D27"/>
                    </a:solidFill>
                  </a:tcPr>
                </a:tc>
                <a:tc>
                  <a:txBody>
                    <a:bodyPr/>
                    <a:lstStyle/>
                    <a:p>
                      <a:pPr indent="0" marL="0">
                        <a:buNone/>
                      </a:pPr>
                      <a:r>
                        <a:rPr lang="en-US" sz="1200" dirty="0">
                          <a:solidFill>
                            <a:srgbClr val="E6EDF3"/>
                          </a:solidFill>
                          <a:latin typeface="Calibri" pitchFamily="34" charset="0"/>
                          <a:ea typeface="Calibri" pitchFamily="34" charset="-122"/>
                          <a:cs typeface="Calibri" pitchFamily="34" charset="-120"/>
                        </a:rPr>
                        <a:t>Every wait becomes a second of silence</a:t>
                      </a:r>
                      <a:endParaRPr lang="en-US" sz="1200" dirty="0">
                        <a:latin typeface="Calibri" charset="0"/>
                        <a:ea typeface="Calibri" charset="0"/>
                        <a:cs typeface="Calibri" charset="0"/>
                      </a:endParaRPr>
                    </a:p>
                  </a:txBody>
                  <a:tcPr marL="101600" marR="101600" marT="101600" marB="101600" anchor="ctr">
                    <a:lnL w="12700" cap="flat" cmpd="sng" algn="ctr">
                      <a:solidFill>
                        <a:srgbClr val="262D36"/>
                      </a:solidFill>
                      <a:prstDash val="solid"/>
                      <a:round/>
                      <a:headEnd type="none" w="med" len="med"/>
                      <a:tailEnd type="none" w="med" len="med"/>
                    </a:lnL>
                    <a:lnR w="12700" cap="flat" cmpd="sng" algn="ctr">
                      <a:solidFill>
                        <a:srgbClr val="262D36"/>
                      </a:solidFill>
                      <a:prstDash val="solid"/>
                      <a:round/>
                      <a:headEnd type="none" w="med" len="med"/>
                      <a:tailEnd type="none" w="med" len="med"/>
                    </a:lnR>
                    <a:lnT w="12700" cap="flat" cmpd="sng" algn="ctr">
                      <a:solidFill>
                        <a:srgbClr val="262D36"/>
                      </a:solidFill>
                      <a:prstDash val="solid"/>
                      <a:round/>
                      <a:headEnd type="none" w="med" len="med"/>
                      <a:tailEnd type="none" w="med" len="med"/>
                    </a:lnT>
                    <a:lnB w="12700" cap="flat" cmpd="sng" algn="ctr">
                      <a:solidFill>
                        <a:srgbClr val="262D36"/>
                      </a:solidFill>
                      <a:prstDash val="solid"/>
                      <a:round/>
                      <a:headEnd type="none" w="med" len="med"/>
                      <a:tailEnd type="none" w="med" len="med"/>
                    </a:lnB>
                    <a:solidFill>
                      <a:srgbClr val="171D27"/>
                    </a:solidFill>
                  </a:tcPr>
                </a:tc>
              </a:tr>
            </a:tbl>
          </a:graphicData>
        </a:graphic>
      </p:graphicFrame>
      <p:sp>
        <p:nvSpPr>
          <p:cNvPr id="4" name="Shape 1"/>
          <p:cNvSpPr/>
          <p:nvPr/>
        </p:nvSpPr>
        <p:spPr>
          <a:xfrm>
            <a:off x="457200" y="4983480"/>
            <a:ext cx="5477256" cy="1051560"/>
          </a:xfrm>
          <a:prstGeom prst="roundRect">
            <a:avLst>
              <a:gd name="adj" fmla="val 4348"/>
            </a:avLst>
          </a:prstGeom>
          <a:solidFill>
            <a:srgbClr val="171D27"/>
          </a:solidFill>
          <a:ln w="12700">
            <a:solidFill>
              <a:srgbClr val="37D67A"/>
            </a:solidFill>
            <a:prstDash val="solid"/>
          </a:ln>
        </p:spPr>
      </p:sp>
      <p:sp>
        <p:nvSpPr>
          <p:cNvPr id="5" name="Text 2"/>
          <p:cNvSpPr txBox="1"/>
          <p:nvPr/>
        </p:nvSpPr>
        <p:spPr>
          <a:xfrm>
            <a:off x="603504" y="5074920"/>
            <a:ext cx="5184648" cy="274320"/>
          </a:xfrm>
          <a:prstGeom prst="rect">
            <a:avLst/>
          </a:prstGeom>
          <a:noFill/>
          <a:ln/>
        </p:spPr>
        <p:txBody>
          <a:bodyPr wrap="square" lIns="0" tIns="0" rIns="0" bIns="0" rtlCol="0" anchor="ctr"/>
          <a:lstStyle/>
          <a:p>
            <a:pPr indent="0" marL="0">
              <a:buNone/>
            </a:pPr>
            <a:r>
              <a:rPr lang="en-US" sz="1400" b="1" dirty="0">
                <a:solidFill>
                  <a:srgbClr val="37D67A"/>
                </a:solidFill>
                <a:latin typeface="Calibri" pitchFamily="34" charset="0"/>
                <a:ea typeface="Calibri" pitchFamily="34" charset="-122"/>
                <a:cs typeface="Calibri" pitchFamily="34" charset="-120"/>
              </a:rPr>
              <a:t>Gaze decides who is being spoken to</a:t>
            </a:r>
            <a:endParaRPr lang="en-US" sz="1400" dirty="0"/>
          </a:p>
        </p:txBody>
      </p:sp>
      <p:sp>
        <p:nvSpPr>
          <p:cNvPr id="6" name="Text 3"/>
          <p:cNvSpPr txBox="1"/>
          <p:nvPr/>
        </p:nvSpPr>
        <p:spPr>
          <a:xfrm>
            <a:off x="603504" y="5376672"/>
            <a:ext cx="5184648" cy="566928"/>
          </a:xfrm>
          <a:prstGeom prst="rect">
            <a:avLst/>
          </a:prstGeom>
          <a:noFill/>
          <a:ln/>
        </p:spPr>
        <p:txBody>
          <a:bodyPr wrap="square" lIns="0" tIns="0" rIns="0" bIns="0" rtlCol="0" anchor="ctr"/>
          <a:lstStyle/>
          <a:p>
            <a:pPr indent="0" marL="0">
              <a:lnSpc>
                <a:spcPct val="115000"/>
              </a:lnSpc>
              <a:buNone/>
            </a:pPr>
            <a:r>
              <a:rPr lang="en-US" sz="1150" dirty="0">
                <a:solidFill>
                  <a:srgbClr val="C9D1D9"/>
                </a:solidFill>
                <a:latin typeface="Calibri" pitchFamily="34" charset="0"/>
                <a:ea typeface="Calibri" pitchFamily="34" charset="-122"/>
                <a:cs typeface="Calibri" pitchFamily="34" charset="-120"/>
              </a:rPr>
              <a:t>Faces in frame and none looking at the agent: the turn is dropped, shown greyed with the reason, and room talk cannot interrupt the bot.</a:t>
            </a:r>
            <a:endParaRPr lang="en-US" sz="1150" dirty="0"/>
          </a:p>
        </p:txBody>
      </p:sp>
      <p:sp>
        <p:nvSpPr>
          <p:cNvPr id="7" name="Shape 4"/>
          <p:cNvSpPr/>
          <p:nvPr/>
        </p:nvSpPr>
        <p:spPr>
          <a:xfrm>
            <a:off x="6254496" y="4983480"/>
            <a:ext cx="5477256" cy="1051560"/>
          </a:xfrm>
          <a:prstGeom prst="roundRect">
            <a:avLst>
              <a:gd name="adj" fmla="val 4348"/>
            </a:avLst>
          </a:prstGeom>
          <a:solidFill>
            <a:srgbClr val="171D27"/>
          </a:solidFill>
          <a:ln w="12700">
            <a:solidFill>
              <a:srgbClr val="F5A623"/>
            </a:solidFill>
            <a:prstDash val="solid"/>
          </a:ln>
        </p:spPr>
      </p:sp>
      <p:sp>
        <p:nvSpPr>
          <p:cNvPr id="8" name="Text 5"/>
          <p:cNvSpPr txBox="1"/>
          <p:nvPr/>
        </p:nvSpPr>
        <p:spPr>
          <a:xfrm>
            <a:off x="6400800" y="5074920"/>
            <a:ext cx="5184648" cy="274320"/>
          </a:xfrm>
          <a:prstGeom prst="rect">
            <a:avLst/>
          </a:prstGeom>
          <a:noFill/>
          <a:ln/>
        </p:spPr>
        <p:txBody>
          <a:bodyPr wrap="square" lIns="0" tIns="0" rIns="0" bIns="0" rtlCol="0" anchor="ctr"/>
          <a:lstStyle/>
          <a:p>
            <a:pPr indent="0" marL="0">
              <a:buNone/>
            </a:pPr>
            <a:r>
              <a:rPr lang="en-US" sz="1400" b="1" dirty="0">
                <a:solidFill>
                  <a:srgbClr val="F5A623"/>
                </a:solidFill>
                <a:latin typeface="Calibri" pitchFamily="34" charset="0"/>
                <a:ea typeface="Calibri" pitchFamily="34" charset="-122"/>
                <a:cs typeface="Calibri" pitchFamily="34" charset="-120"/>
              </a:rPr>
              <a:t>Three things never wait for Jev</a:t>
            </a:r>
            <a:endParaRPr lang="en-US" sz="1400" dirty="0"/>
          </a:p>
        </p:txBody>
      </p:sp>
      <p:sp>
        <p:nvSpPr>
          <p:cNvPr id="9" name="Text 6"/>
          <p:cNvSpPr txBox="1"/>
          <p:nvPr/>
        </p:nvSpPr>
        <p:spPr>
          <a:xfrm>
            <a:off x="6400800" y="5376672"/>
            <a:ext cx="5184648" cy="566928"/>
          </a:xfrm>
          <a:prstGeom prst="rect">
            <a:avLst/>
          </a:prstGeom>
          <a:noFill/>
          <a:ln/>
        </p:spPr>
        <p:txBody>
          <a:bodyPr wrap="square" lIns="0" tIns="0" rIns="0" bIns="0" rtlCol="0" anchor="ctr"/>
          <a:lstStyle/>
          <a:p>
            <a:pPr indent="0" marL="0">
              <a:lnSpc>
                <a:spcPct val="115000"/>
              </a:lnSpc>
              <a:buNone/>
            </a:pPr>
            <a:r>
              <a:rPr lang="en-US" sz="1150" dirty="0">
                <a:solidFill>
                  <a:srgbClr val="C9D1D9"/>
                </a:solidFill>
                <a:latin typeface="Calibri" pitchFamily="34" charset="0"/>
                <a:ea typeface="Calibri" pitchFamily="34" charset="-122"/>
                <a:cs typeface="Calibri" pitchFamily="34" charset="-120"/>
              </a:rPr>
              <a:t>“Stop” and “wait” interrupt immediately. Sustained overlap stops the bot at 0.8 s. A Jev timeout falls back to rules, not to silence.</a:t>
            </a:r>
            <a:endParaRPr lang="en-US" sz="1150" dirty="0"/>
          </a:p>
        </p:txBody>
      </p:sp>
      <p:sp>
        <p:nvSpPr>
          <p:cNvPr id="10" name="Text 7"/>
          <p:cNvSpPr txBox="1"/>
          <p:nvPr/>
        </p:nvSpPr>
        <p:spPr>
          <a:xfrm>
            <a:off x="457200" y="6199632"/>
            <a:ext cx="11274552" cy="274320"/>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Pipecat 1.11  ·  Gradium ASR and TTS  ·  General Compute gpt-oss-120b  ·  Jev (TypeSafe AI)  ·  ECAPA and MediaPipe run on the machine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3Jevvs System Architecture</dc:title>
  <dc:subject>PptxGenJS Presentation</dc:subject>
  <dc:creator>3Jevvs</dc:creator>
  <cp:lastModifiedBy>3Jevvs</cp:lastModifiedBy>
  <cp:revision>1</cp:revision>
  <dcterms:created xsi:type="dcterms:W3CDTF">2026-09-20T01:44:49Z</dcterms:created>
  <dcterms:modified xsi:type="dcterms:W3CDTF">2026-09-20T01:44:49Z</dcterms:modified>
</cp:coreProperties>
</file>